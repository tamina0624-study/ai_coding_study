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94" r:id="rId4"/>
    <p:sldId id="297" r:id="rId5"/>
    <p:sldId id="291" r:id="rId6"/>
    <p:sldId id="298" r:id="rId7"/>
    <p:sldId id="282" r:id="rId8"/>
    <p:sldId id="283" r:id="rId9"/>
    <p:sldId id="287" r:id="rId10"/>
    <p:sldId id="299" r:id="rId11"/>
    <p:sldId id="284" r:id="rId12"/>
    <p:sldId id="285" r:id="rId13"/>
    <p:sldId id="300" r:id="rId14"/>
    <p:sldId id="295" r:id="rId15"/>
    <p:sldId id="296" r:id="rId16"/>
    <p:sldId id="301" r:id="rId17"/>
    <p:sldId id="302" r:id="rId18"/>
    <p:sldId id="306" r:id="rId19"/>
    <p:sldId id="303" r:id="rId20"/>
    <p:sldId id="304" r:id="rId21"/>
    <p:sldId id="305" r:id="rId22"/>
    <p:sldId id="307" r:id="rId23"/>
    <p:sldId id="308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napToGrid="0">
      <p:cViewPr>
        <p:scale>
          <a:sx n="75" d="100"/>
          <a:sy n="75" d="100"/>
        </p:scale>
        <p:origin x="115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8DCA57-4F1C-A3CB-2C9E-87F9A8FE3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7FC89EE-49E3-2EE5-DBD7-50D8E2AC5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23D957-628F-E45F-2E1B-19699756F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3D518A-1397-1B91-5AE5-94BB4370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8C23E3-0327-2DB4-1730-DB50D77F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119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FEB15C-1109-2FF5-2088-6F4EFC6A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F9C521-F525-C546-400F-1DDDD0A13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33D8F9-5595-789E-F4DA-4F9A06E0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DF81D1-B7AE-74A7-A2A8-E385D7C4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DA96FD-920D-CF2D-64ED-944B309E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25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AC6D38-0BA7-DFC5-4E0C-C715BFA6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656736-ED20-6DA9-F6D2-20D4D2496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4CF47E-9B09-CBAF-924C-F958C681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B70364-DABF-0ECF-6416-5F5B2818F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581196-F458-CF42-BF55-2E9CDA95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9753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B1FB8A-1DC6-DC31-E2F6-0A04F054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BA427A-15DB-B229-06E9-0AD4CD377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BC4476-43DE-5EC8-0C08-91AD5BE8C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A479EA-2706-73E2-629B-A7742393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6FC0A5-5F85-3368-9D8A-65D4BEDE6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2F9985-C40F-1B18-3A43-30EF9FB4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919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DD231D-308E-BC48-7830-F38973FE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839BC5-23B2-5789-D2EA-B9084852A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7A7B08-39AA-54FA-F773-746B6865F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A521B42-4191-D94B-0265-4D798B2B7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6470522-BAF0-72AF-3464-DBAF55A34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14E5D26-AB33-BE6C-BA3C-28BB1A51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6AB53F2-81B4-195F-6A55-41FDAF2C0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D56691-BF12-7E76-2CFC-4485FFB5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4326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E15762-4AAD-7AE9-56E7-FEB7C44B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280CD0A-6064-4C6B-B3BF-0BD7A1FB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C34738E-11C0-1963-C1C7-BE0545F9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2EADACD-1C23-5267-7FAC-E9C53017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832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763221C-31E8-BB5B-B15A-DE8034FEE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C91CC3D-788C-AA79-CDDB-33ADCBD55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791E7E-F681-4683-FBC1-A4BDF6CA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555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BA8FA-538D-657A-DD5F-DF3159388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2750FD-30B5-0A91-30AD-55B54230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D488C4-D04B-8370-2664-077FAB1E4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E18502-2328-520B-7331-E49AF5E7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C6C678-629F-5840-36FF-567F490C7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4317A4-91AF-2382-9F9F-3FA1A884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32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350745-E132-4DAB-F04D-656E7E97B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8B1157A-8BE1-9F69-5332-D1E21899C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5106FD-96E5-04BB-867C-365549EF1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9DB330-E9CD-A038-A236-57AF4CC2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7828F8-408F-CDB2-E8E9-292E43A3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7B3DAC-BE7F-A558-313B-4293C21F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96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CCB0E5-D929-104F-EEBD-CBDC05C3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6532DE-D350-60A7-DC98-7B0353B85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142D45-B534-CA0C-3BF9-E44A152A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F120E3-0E3D-E6CB-ED52-025B5308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35C7ED-91BF-575B-4146-AA1410D1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680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9DAF621-2C33-27FB-0CCE-8EECC63AF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A79C8F-C67F-B62F-4487-6BA22B243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B86975-A0A3-9B47-991B-6980B0E0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0A4661-0284-BC8B-611E-81E31625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2A02D7-6BE0-F6DC-F5C7-EEBC8999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925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6E169D5-397E-2976-1A50-2079EF04B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903838-4A0F-7869-DA06-226AED6C3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A4F510-1E96-95E0-EB8A-6DF8B33AD9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EC343-F251-4BD8-B3A2-E1F536EAABC7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C0B3DB-D1F7-C778-C5AC-DCDFD9D7A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4D7C78-739E-4AD1-065B-AC481D6A3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2F83B-CF87-4023-9BD7-F9E469CD41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76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496745-4925-AB10-8AA8-13478A11B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745" y="1253836"/>
            <a:ext cx="11850255" cy="238760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Kiro</a:t>
            </a:r>
            <a:r>
              <a:rPr kumimoji="1" lang="ja-JP" altLang="en-US" dirty="0"/>
              <a:t>を使って開発しました</a:t>
            </a:r>
            <a:br>
              <a:rPr kumimoji="1" lang="en-US" altLang="ja-JP" dirty="0"/>
            </a:br>
            <a:r>
              <a:rPr kumimoji="1" lang="ja-JP" altLang="en-US" dirty="0"/>
              <a:t>（地獄から天国～そして伝説へ～）</a:t>
            </a:r>
          </a:p>
        </p:txBody>
      </p:sp>
    </p:spTree>
    <p:extLst>
      <p:ext uri="{BB962C8B-B14F-4D97-AF65-F5344CB8AC3E}">
        <p14:creationId xmlns:p14="http://schemas.microsoft.com/office/powerpoint/2010/main" val="97282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3691F3-AF5A-6A12-A1E8-BC12F41C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Kiro</a:t>
            </a:r>
            <a:r>
              <a:rPr kumimoji="1" lang="ja-JP" altLang="en-US" dirty="0"/>
              <a:t>って知っていますか？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99A3AC6-AF1C-BCA3-96DA-4FB77F9D4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96" y="2392219"/>
            <a:ext cx="5497646" cy="248552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E81F90-8BF8-4E90-F811-234B0DB70E56}"/>
              </a:ext>
            </a:extLst>
          </p:cNvPr>
          <p:cNvSpPr txBox="1"/>
          <p:nvPr/>
        </p:nvSpPr>
        <p:spPr>
          <a:xfrm>
            <a:off x="6021298" y="2690336"/>
            <a:ext cx="60943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/>
              <a:t>AWS Kiro（キロ）は、</a:t>
            </a:r>
            <a:endParaRPr lang="en-US" altLang="ja-JP" dirty="0"/>
          </a:p>
          <a:p>
            <a:r>
              <a:rPr lang="ja-JP" altLang="ja-JP" dirty="0"/>
              <a:t>Amazonが提供する次世代のAI統合開発環境（AI IDE）です。</a:t>
            </a:r>
            <a:endParaRPr lang="en-US" altLang="ja-JP" dirty="0"/>
          </a:p>
          <a:p>
            <a:r>
              <a:rPr lang="ja-JP" altLang="ja-JP" dirty="0"/>
              <a:t>コードの自動生成にとどまらず、</a:t>
            </a:r>
            <a:endParaRPr lang="en-US" altLang="ja-JP" dirty="0"/>
          </a:p>
          <a:p>
            <a:r>
              <a:rPr lang="ja-JP" altLang="ja-JP" dirty="0"/>
              <a:t>要件定義から設計、実装、テストに至る</a:t>
            </a:r>
            <a:endParaRPr lang="en-US" altLang="ja-JP" dirty="0"/>
          </a:p>
          <a:p>
            <a:r>
              <a:rPr lang="ja-JP" altLang="ja-JP" dirty="0"/>
              <a:t>プロセス全体をAIエージェントと協調して進められる「仕様駆動開発（SDD）」に特化している点が大きな特徴です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1819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003F16-6032-2463-0042-A526FC583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7961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Kiro</a:t>
            </a:r>
            <a:r>
              <a:rPr kumimoji="1" lang="ja-JP" altLang="en-US" dirty="0"/>
              <a:t>を使った開発</a:t>
            </a:r>
          </a:p>
        </p:txBody>
      </p:sp>
    </p:spTree>
    <p:extLst>
      <p:ext uri="{BB962C8B-B14F-4D97-AF65-F5344CB8AC3E}">
        <p14:creationId xmlns:p14="http://schemas.microsoft.com/office/powerpoint/2010/main" val="104642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8F67D7-2296-D968-36CD-0CD9DC19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アプリケーションの仕様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D755C8-3F1D-E437-0730-E2DE62372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社内の共有ドキュメントを読み込ませて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社内の手続きにめっちゃ詳しい</a:t>
            </a:r>
            <a:r>
              <a:rPr lang="en-US" altLang="ja-JP" dirty="0"/>
              <a:t>web</a:t>
            </a:r>
            <a:r>
              <a:rPr lang="ja-JP" altLang="en-US" dirty="0"/>
              <a:t>アプリを作って！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ACD9149-A5C1-6413-2294-4ABFE07C3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166" y="3706813"/>
            <a:ext cx="1771897" cy="233395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2B4FD20-CFBC-C238-5486-461D6E7AD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791" y="3428999"/>
            <a:ext cx="2132477" cy="2736365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BC21DBCE-BC56-6FF4-EB64-C865837C6C28}"/>
              </a:ext>
            </a:extLst>
          </p:cNvPr>
          <p:cNvSpPr/>
          <p:nvPr/>
        </p:nvSpPr>
        <p:spPr>
          <a:xfrm>
            <a:off x="3296616" y="3876472"/>
            <a:ext cx="3463047" cy="5350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59068D0-4F59-D8EC-F928-EABB8AF1138D}"/>
              </a:ext>
            </a:extLst>
          </p:cNvPr>
          <p:cNvSpPr txBox="1"/>
          <p:nvPr/>
        </p:nvSpPr>
        <p:spPr>
          <a:xfrm>
            <a:off x="4127892" y="5412165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この書類書いて</a:t>
            </a:r>
            <a:endParaRPr kumimoji="1" lang="en-US" altLang="ja-JP" dirty="0"/>
          </a:p>
          <a:p>
            <a:r>
              <a:rPr kumimoji="1" lang="ja-JP" altLang="en-US" dirty="0"/>
              <a:t>総務に出して！</a:t>
            </a:r>
          </a:p>
        </p:txBody>
      </p:sp>
      <p:sp>
        <p:nvSpPr>
          <p:cNvPr id="10" name="矢印: 左 9">
            <a:extLst>
              <a:ext uri="{FF2B5EF4-FFF2-40B4-BE49-F238E27FC236}">
                <a16:creationId xmlns:a16="http://schemas.microsoft.com/office/drawing/2014/main" id="{5E8AD765-DE24-4F44-C96F-412D44FFFC10}"/>
              </a:ext>
            </a:extLst>
          </p:cNvPr>
          <p:cNvSpPr/>
          <p:nvPr/>
        </p:nvSpPr>
        <p:spPr>
          <a:xfrm>
            <a:off x="3222403" y="4877144"/>
            <a:ext cx="3463047" cy="5350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A011334-6B01-DEA5-3B93-4B1C6E3FF789}"/>
              </a:ext>
            </a:extLst>
          </p:cNvPr>
          <p:cNvSpPr txBox="1"/>
          <p:nvPr/>
        </p:nvSpPr>
        <p:spPr>
          <a:xfrm>
            <a:off x="3755410" y="3303588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引っ越しの手続きって</a:t>
            </a:r>
            <a:endParaRPr kumimoji="1" lang="en-US" altLang="ja-JP" dirty="0"/>
          </a:p>
          <a:p>
            <a:r>
              <a:rPr kumimoji="1" lang="ja-JP" altLang="en-US" dirty="0"/>
              <a:t>どうすればいいの？</a:t>
            </a:r>
          </a:p>
        </p:txBody>
      </p:sp>
    </p:spTree>
    <p:extLst>
      <p:ext uri="{BB962C8B-B14F-4D97-AF65-F5344CB8AC3E}">
        <p14:creationId xmlns:p14="http://schemas.microsoft.com/office/powerpoint/2010/main" val="1115325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5AF970-A607-1643-289B-A723D6B8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アプリケーションの構成</a:t>
            </a:r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274CF13A-51DC-934F-AA4C-33E06A442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7090"/>
            <a:ext cx="5768624" cy="3202987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DC14470C-30F8-853E-2A2D-FEA2A54A6F55}"/>
              </a:ext>
            </a:extLst>
          </p:cNvPr>
          <p:cNvSpPr txBox="1"/>
          <p:nvPr/>
        </p:nvSpPr>
        <p:spPr>
          <a:xfrm>
            <a:off x="7026035" y="2551944"/>
            <a:ext cx="48013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・ローカルで</a:t>
            </a:r>
            <a:r>
              <a:rPr kumimoji="1" lang="en-US" altLang="ja-JP" dirty="0"/>
              <a:t>Web</a:t>
            </a:r>
            <a:r>
              <a:rPr kumimoji="1" lang="ja-JP" altLang="en-US" dirty="0"/>
              <a:t>サーバーを構築</a:t>
            </a:r>
            <a:endParaRPr lang="en-US" altLang="ja-JP" dirty="0"/>
          </a:p>
          <a:p>
            <a:r>
              <a:rPr kumimoji="1" lang="ja-JP" altLang="en-US" dirty="0"/>
              <a:t>・ユーザーが</a:t>
            </a:r>
            <a:r>
              <a:rPr lang="ja-JP" altLang="en-US" dirty="0"/>
              <a:t>社内</a:t>
            </a:r>
            <a:r>
              <a:rPr kumimoji="1" lang="ja-JP" altLang="en-US" dirty="0"/>
              <a:t>ルールについて質問を記入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 err="1"/>
              <a:t>BedRock</a:t>
            </a:r>
            <a:r>
              <a:rPr kumimoji="1" lang="ja-JP" altLang="en-US" dirty="0"/>
              <a:t>が</a:t>
            </a:r>
            <a:r>
              <a:rPr kumimoji="1" lang="en-US" altLang="ja-JP" dirty="0"/>
              <a:t>S3</a:t>
            </a:r>
            <a:r>
              <a:rPr kumimoji="1" lang="ja-JP" altLang="en-US" dirty="0"/>
              <a:t>の</a:t>
            </a:r>
            <a:r>
              <a:rPr lang="ja-JP" altLang="en-US" dirty="0"/>
              <a:t>社内</a:t>
            </a:r>
            <a:r>
              <a:rPr kumimoji="1" lang="ja-JP" altLang="en-US" dirty="0"/>
              <a:t>資料を読んで、</a:t>
            </a:r>
            <a:endParaRPr kumimoji="1" lang="en-US" altLang="ja-JP" dirty="0"/>
          </a:p>
          <a:p>
            <a:r>
              <a:rPr lang="ja-JP" altLang="en-US" dirty="0"/>
              <a:t>ユーザーに回答を返す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740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C3A6998-1E18-B904-0780-D1FAC568D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073" y="890628"/>
            <a:ext cx="8786800" cy="460947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9CD3DEE-57F9-6A89-2249-76EFA72E7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217" y="5532437"/>
            <a:ext cx="5996709" cy="1325563"/>
          </a:xfrm>
          <a:solidFill>
            <a:srgbClr val="FFFFFF">
              <a:alpha val="30196"/>
            </a:srgbClr>
          </a:solidFill>
        </p:spPr>
        <p:txBody>
          <a:bodyPr/>
          <a:lstStyle/>
          <a:p>
            <a:r>
              <a:rPr lang="ja-JP" altLang="en-US" dirty="0"/>
              <a:t>第</a:t>
            </a:r>
            <a:r>
              <a:rPr lang="en-US" altLang="ja-JP" dirty="0"/>
              <a:t>1</a:t>
            </a:r>
            <a:r>
              <a:rPr lang="ja-JP" altLang="en-US" dirty="0"/>
              <a:t>回　</a:t>
            </a:r>
            <a:r>
              <a:rPr kumimoji="1" lang="ja-JP" altLang="en-US" dirty="0"/>
              <a:t>開発結果</a:t>
            </a:r>
            <a:br>
              <a:rPr kumimoji="1" lang="en-US" altLang="ja-JP" dirty="0"/>
            </a:br>
            <a:r>
              <a:rPr kumimoji="1" lang="ja-JP" altLang="en-US" dirty="0"/>
              <a:t>～地獄編～</a:t>
            </a:r>
          </a:p>
        </p:txBody>
      </p:sp>
    </p:spTree>
    <p:extLst>
      <p:ext uri="{BB962C8B-B14F-4D97-AF65-F5344CB8AC3E}">
        <p14:creationId xmlns:p14="http://schemas.microsoft.com/office/powerpoint/2010/main" val="1672694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9AECBA-6F0D-1ECF-C5A7-AA559191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AI-DLC</a:t>
            </a:r>
            <a:r>
              <a:rPr kumimoji="1" lang="ja-JP" altLang="en-US" dirty="0"/>
              <a:t>のシミュレーションを行った結果</a:t>
            </a:r>
            <a:br>
              <a:rPr kumimoji="1" lang="en-US" altLang="ja-JP" dirty="0"/>
            </a:br>
            <a:r>
              <a:rPr kumimoji="1" lang="ja-JP" altLang="en-US" dirty="0"/>
              <a:t>（</a:t>
            </a:r>
            <a:r>
              <a:rPr kumimoji="1" lang="en-US" altLang="ja-JP" dirty="0"/>
              <a:t>2026/06/26</a:t>
            </a:r>
            <a:r>
              <a:rPr kumimoji="1" lang="ja-JP" altLang="en-US" dirty="0"/>
              <a:t>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7D8B78-7256-7E8C-1F6E-7F0F2FDD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56" y="1871963"/>
            <a:ext cx="6004039" cy="450483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B232CD-C951-8FFC-94F1-48A39D8B379F}"/>
              </a:ext>
            </a:extLst>
          </p:cNvPr>
          <p:cNvSpPr txBox="1"/>
          <p:nvPr/>
        </p:nvSpPr>
        <p:spPr>
          <a:xfrm>
            <a:off x="6862618" y="2170545"/>
            <a:ext cx="36471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何も調整せずに実行したところ</a:t>
            </a:r>
            <a:endParaRPr lang="en-US" altLang="ja-JP" dirty="0"/>
          </a:p>
          <a:p>
            <a:r>
              <a:rPr lang="ja-JP" altLang="en-US" dirty="0"/>
              <a:t>アプリケーション作成完了までに</a:t>
            </a:r>
            <a:endParaRPr lang="en-US" altLang="ja-JP" dirty="0"/>
          </a:p>
          <a:p>
            <a:r>
              <a:rPr kumimoji="1" lang="en-US" altLang="ja-JP" sz="3600" dirty="0">
                <a:solidFill>
                  <a:srgbClr val="FF0000"/>
                </a:solidFill>
              </a:rPr>
              <a:t>11</a:t>
            </a:r>
            <a:r>
              <a:rPr kumimoji="1" lang="ja-JP" altLang="en-US" sz="3600" dirty="0">
                <a:solidFill>
                  <a:srgbClr val="FF0000"/>
                </a:solidFill>
              </a:rPr>
              <a:t>時間</a:t>
            </a:r>
            <a:r>
              <a:rPr kumimoji="1" lang="ja-JP" altLang="en-US" dirty="0"/>
              <a:t>掛かりました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90486B4-EBF1-D3E9-04CD-EBD76CFF2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205" y="3460550"/>
            <a:ext cx="1926986" cy="269555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BCFDF1-2986-BA3D-F638-0E242D05E953}"/>
              </a:ext>
            </a:extLst>
          </p:cNvPr>
          <p:cNvSpPr txBox="1"/>
          <p:nvPr/>
        </p:nvSpPr>
        <p:spPr>
          <a:xfrm>
            <a:off x="7120647" y="630820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もっと早くならないの？？</a:t>
            </a:r>
          </a:p>
        </p:txBody>
      </p:sp>
    </p:spTree>
    <p:extLst>
      <p:ext uri="{BB962C8B-B14F-4D97-AF65-F5344CB8AC3E}">
        <p14:creationId xmlns:p14="http://schemas.microsoft.com/office/powerpoint/2010/main" val="3014367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FBD327-8EC5-0749-AAA0-E333857E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つの高速化施策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626EFC-9B2E-0D6B-16FB-FE3688946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990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kumimoji="1" lang="ja-JP" altLang="en-US" dirty="0"/>
              <a:t>■高速化施策</a:t>
            </a:r>
            <a:r>
              <a:rPr kumimoji="1" lang="en-US" altLang="ja-JP" dirty="0"/>
              <a:t>1</a:t>
            </a:r>
            <a:r>
              <a:rPr kumimoji="1" lang="ja-JP" altLang="en-US" dirty="0"/>
              <a:t>　サブエージェントの有効化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Kiro</a:t>
            </a:r>
            <a:r>
              <a:rPr kumimoji="1" lang="ja-JP" altLang="en-US" dirty="0"/>
              <a:t>にサブエージェント機能が実装されました。</a:t>
            </a:r>
            <a:r>
              <a:rPr lang="ja-JP" altLang="en-US" dirty="0"/>
              <a:t>（</a:t>
            </a:r>
            <a:r>
              <a:rPr lang="en-US" altLang="ja-JP" dirty="0"/>
              <a:t>2025/12/20</a:t>
            </a:r>
            <a:r>
              <a:rPr lang="ja-JP" altLang="en-US" dirty="0"/>
              <a:t>）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⇒</a:t>
            </a:r>
            <a:r>
              <a:rPr kumimoji="1" lang="en-US" altLang="ja-JP" dirty="0" err="1"/>
              <a:t>AutoPilot</a:t>
            </a:r>
            <a:r>
              <a:rPr kumimoji="1" lang="ja-JP" altLang="en-US" dirty="0"/>
              <a:t>モードを有効にしないと動かないので必ず有効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■高速化施策</a:t>
            </a:r>
            <a:r>
              <a:rPr lang="en-US" altLang="ja-JP" dirty="0"/>
              <a:t>2</a:t>
            </a:r>
            <a:r>
              <a:rPr lang="ja-JP" altLang="en-US" dirty="0"/>
              <a:t>　カスタムエージェントの定義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lang="ja-JP" altLang="ja-JP" dirty="0"/>
              <a:t>カスタムエージェント</a:t>
            </a:r>
            <a:r>
              <a:rPr lang="ja-JP" altLang="en-US" dirty="0"/>
              <a:t>機能を使う事で、エージェントの数を増やして並列作業が出来ます。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■高速化施策</a:t>
            </a:r>
            <a:r>
              <a:rPr lang="en-US" altLang="ja-JP" dirty="0"/>
              <a:t>3</a:t>
            </a:r>
            <a:r>
              <a:rPr lang="ja-JP" altLang="en-US" dirty="0"/>
              <a:t>　毎回聞かれる決まりきった問い合わせの答えを用意しておく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一回プロトタイプの作成を行って、</a:t>
            </a:r>
            <a:r>
              <a:rPr lang="en-US" altLang="ja-JP" dirty="0" err="1"/>
              <a:t>kiro</a:t>
            </a:r>
            <a:r>
              <a:rPr lang="ja-JP" altLang="en-US" dirty="0"/>
              <a:t>に質問される決まりきったルールを最初から定義しました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（</a:t>
            </a:r>
            <a:r>
              <a:rPr lang="en-US" altLang="ja-JP" dirty="0"/>
              <a:t>python Web</a:t>
            </a:r>
            <a:r>
              <a:rPr lang="ja-JP" altLang="en-US" dirty="0"/>
              <a:t>アプリ、</a:t>
            </a:r>
            <a:r>
              <a:rPr lang="en-US" altLang="ja-JP" dirty="0" err="1"/>
              <a:t>FastAPI</a:t>
            </a:r>
            <a:r>
              <a:rPr lang="en-US" altLang="ja-JP" dirty="0"/>
              <a:t>,</a:t>
            </a:r>
            <a:r>
              <a:rPr lang="ja-JP" altLang="en-US" dirty="0"/>
              <a:t>日本語ドキュメント、</a:t>
            </a:r>
            <a:r>
              <a:rPr lang="en-US" altLang="ja-JP" dirty="0"/>
              <a:t>Docker</a:t>
            </a:r>
            <a:r>
              <a:rPr lang="ja-JP" altLang="en-US" dirty="0"/>
              <a:t>は使わない）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■高速化施策</a:t>
            </a:r>
            <a:r>
              <a:rPr lang="en-US" altLang="ja-JP" dirty="0"/>
              <a:t>4</a:t>
            </a:r>
            <a:r>
              <a:rPr lang="ja-JP" altLang="en-US" dirty="0"/>
              <a:t>　フック機能を有効にする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決まったタイミングでテスト処理を実行することで、結合時のエラーが減らせる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■高速化施策</a:t>
            </a:r>
            <a:r>
              <a:rPr lang="en-US" altLang="ja-JP" dirty="0"/>
              <a:t>5</a:t>
            </a:r>
            <a:r>
              <a:rPr lang="ja-JP" altLang="en-US" dirty="0"/>
              <a:t>　ステアリングファイルの配置場所の変更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ステアリングファイルは、</a:t>
            </a:r>
            <a:r>
              <a:rPr lang="en-US" altLang="ja-JP" dirty="0"/>
              <a:t>.</a:t>
            </a:r>
            <a:r>
              <a:rPr lang="en-US" altLang="ja-JP" dirty="0" err="1"/>
              <a:t>kiro</a:t>
            </a:r>
            <a:r>
              <a:rPr lang="ja-JP" altLang="en-US" dirty="0"/>
              <a:t>フォルダに配置することで、</a:t>
            </a:r>
            <a:r>
              <a:rPr lang="en-US" altLang="ja-JP" dirty="0" err="1"/>
              <a:t>kiro</a:t>
            </a:r>
            <a:r>
              <a:rPr lang="ja-JP" altLang="en-US" dirty="0"/>
              <a:t>の探索が早くなるので</a:t>
            </a:r>
            <a:r>
              <a:rPr lang="en-US" altLang="ja-JP" dirty="0"/>
              <a:t>.</a:t>
            </a:r>
            <a:r>
              <a:rPr lang="en-US" altLang="ja-JP" dirty="0" err="1"/>
              <a:t>kiro</a:t>
            </a:r>
            <a:r>
              <a:rPr lang="ja-JP" altLang="en-US" dirty="0"/>
              <a:t>フォルダに作成するのが良い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12898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34C0A9-53FD-A1BE-C76A-33C6D6D9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マルチエージェントとサブエージェント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2318461-6489-B12D-6406-4DEF20FF7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77" y="2307646"/>
            <a:ext cx="6913123" cy="377386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3E7AF16-FC93-64DD-1053-25D341DC4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8501"/>
            <a:ext cx="4187658" cy="46043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265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DAD-CCF9-92AD-1758-EBF4E783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E9030B-FA68-5D9B-F95D-A31FFFCA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8" y="5462419"/>
            <a:ext cx="5996709" cy="1325563"/>
          </a:xfrm>
        </p:spPr>
        <p:txBody>
          <a:bodyPr/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回　</a:t>
            </a:r>
            <a:r>
              <a:rPr kumimoji="1" lang="ja-JP" altLang="en-US" dirty="0"/>
              <a:t>開発結果</a:t>
            </a:r>
            <a:br>
              <a:rPr kumimoji="1" lang="en-US" altLang="ja-JP" dirty="0"/>
            </a:br>
            <a:r>
              <a:rPr kumimoji="1" lang="ja-JP" altLang="en-US" dirty="0"/>
              <a:t>～天国編～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0B7E455-7292-EE9A-7282-7542E33F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835" y="208155"/>
            <a:ext cx="8557844" cy="525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1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35C6E7-5574-2879-87AC-1F6C9822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AI-DLC</a:t>
            </a:r>
            <a:r>
              <a:rPr lang="ja-JP" altLang="en-US" dirty="0"/>
              <a:t>のシミュレーションを行った結果</a:t>
            </a:r>
            <a:br>
              <a:rPr lang="en-US" altLang="ja-JP" dirty="0"/>
            </a:br>
            <a:r>
              <a:rPr lang="ja-JP" altLang="en-US" dirty="0"/>
              <a:t>（</a:t>
            </a:r>
            <a:r>
              <a:rPr lang="en-US" altLang="ja-JP" dirty="0"/>
              <a:t>2026/06/29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D83EE29-AC99-00CB-FF79-D7884843E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6" y="1843569"/>
            <a:ext cx="7039957" cy="342947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0B49CF-FE4B-4275-37C3-F47043CBADFA}"/>
              </a:ext>
            </a:extLst>
          </p:cNvPr>
          <p:cNvSpPr txBox="1"/>
          <p:nvPr/>
        </p:nvSpPr>
        <p:spPr>
          <a:xfrm>
            <a:off x="7859949" y="2120630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高速化施策を導入したことで</a:t>
            </a:r>
            <a:endParaRPr kumimoji="1" lang="en-US" altLang="ja-JP" dirty="0"/>
          </a:p>
          <a:p>
            <a:r>
              <a:rPr lang="en-US" altLang="ja-JP" dirty="0"/>
              <a:t>1</a:t>
            </a:r>
            <a:r>
              <a:rPr lang="ja-JP" altLang="en-US" dirty="0"/>
              <a:t>時間</a:t>
            </a:r>
            <a:r>
              <a:rPr lang="en-US" altLang="ja-JP" dirty="0"/>
              <a:t>54</a:t>
            </a:r>
            <a:r>
              <a:rPr lang="ja-JP" altLang="en-US" dirty="0"/>
              <a:t>分で開発が</a:t>
            </a:r>
            <a:endParaRPr lang="en-US" altLang="ja-JP" dirty="0"/>
          </a:p>
          <a:p>
            <a:r>
              <a:rPr lang="ja-JP" altLang="en-US" dirty="0"/>
              <a:t>収まるようになりました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4449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57B18E-D97B-E9E8-92F0-BD45D026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高速化施策</a:t>
            </a:r>
            <a:r>
              <a:rPr kumimoji="1" lang="en-US" altLang="ja-JP" dirty="0"/>
              <a:t>2</a:t>
            </a:r>
            <a:br>
              <a:rPr kumimoji="1" lang="en-US" altLang="ja-JP" dirty="0"/>
            </a:br>
            <a:r>
              <a:rPr kumimoji="1" lang="ja-JP" altLang="en-US" dirty="0"/>
              <a:t>（</a:t>
            </a:r>
            <a:r>
              <a:rPr kumimoji="1" lang="en-US" altLang="ja-JP" dirty="0"/>
              <a:t>2</a:t>
            </a:r>
            <a:r>
              <a:rPr kumimoji="1" lang="ja-JP" altLang="en-US" dirty="0"/>
              <a:t>回目シミュレーションの反省）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9B7F02-1188-2962-75C8-05493A6854E3}"/>
              </a:ext>
            </a:extLst>
          </p:cNvPr>
          <p:cNvSpPr txBox="1"/>
          <p:nvPr/>
        </p:nvSpPr>
        <p:spPr>
          <a:xfrm>
            <a:off x="489526" y="1690688"/>
            <a:ext cx="96568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■高速化施策</a:t>
            </a:r>
            <a:r>
              <a:rPr kumimoji="1" lang="en-US" altLang="ja-JP" dirty="0"/>
              <a:t>2-1  </a:t>
            </a:r>
            <a:r>
              <a:rPr kumimoji="1" lang="en-US" altLang="ja-JP" dirty="0" err="1"/>
              <a:t>kiro</a:t>
            </a:r>
            <a:r>
              <a:rPr lang="ja-JP" altLang="en-US" dirty="0"/>
              <a:t>の古い情報対策</a:t>
            </a:r>
            <a:endParaRPr kumimoji="1" lang="en-US" altLang="ja-JP" dirty="0"/>
          </a:p>
          <a:p>
            <a:r>
              <a:rPr kumimoji="1" lang="en-US" altLang="ja-JP" dirty="0"/>
              <a:t>Kiro</a:t>
            </a:r>
            <a:r>
              <a:rPr kumimoji="1" lang="ja-JP" altLang="en-US" dirty="0"/>
              <a:t>が古い情報で実装を行ってしまいエラーが発生</a:t>
            </a:r>
            <a:endParaRPr kumimoji="1" lang="en-US" altLang="ja-JP" dirty="0"/>
          </a:p>
          <a:p>
            <a:r>
              <a:rPr lang="ja-JP" altLang="en-US" dirty="0"/>
              <a:t>（依存モジュールのバージョンが古い、</a:t>
            </a:r>
            <a:r>
              <a:rPr lang="en-US" altLang="ja-JP" dirty="0"/>
              <a:t> HTTP</a:t>
            </a:r>
            <a:r>
              <a:rPr lang="ja-JP" altLang="en-US" dirty="0"/>
              <a:t>通信のテンプレートが</a:t>
            </a:r>
            <a:r>
              <a:rPr lang="en-US" altLang="ja-JP" dirty="0" err="1"/>
              <a:t>BedRock</a:t>
            </a:r>
            <a:r>
              <a:rPr lang="ja-JP" altLang="en-US" dirty="0"/>
              <a:t>と合わない）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■高速化施策</a:t>
            </a:r>
            <a:r>
              <a:rPr lang="en-US" altLang="ja-JP" dirty="0"/>
              <a:t>2-2  </a:t>
            </a:r>
            <a:r>
              <a:rPr lang="en-US" altLang="ja-JP" dirty="0" err="1"/>
              <a:t>kiro</a:t>
            </a:r>
            <a:r>
              <a:rPr lang="ja-JP" altLang="en-US" dirty="0"/>
              <a:t>が良くハマるエラー対策</a:t>
            </a:r>
            <a:endParaRPr lang="en-US" altLang="ja-JP" dirty="0"/>
          </a:p>
          <a:p>
            <a:r>
              <a:rPr kumimoji="1" lang="en-US" altLang="ja-JP" dirty="0" err="1"/>
              <a:t>kiro</a:t>
            </a:r>
            <a:r>
              <a:rPr kumimoji="1" lang="ja-JP" altLang="en-US" dirty="0"/>
              <a:t>が良くハマるエラーと対策を書いておく</a:t>
            </a:r>
            <a:endParaRPr kumimoji="1" lang="en-US" altLang="ja-JP" dirty="0"/>
          </a:p>
          <a:p>
            <a:r>
              <a:rPr kumimoji="1" lang="ja-JP" altLang="en-US" dirty="0"/>
              <a:t>（</a:t>
            </a:r>
            <a:r>
              <a:rPr kumimoji="1" lang="en-US" altLang="ja-JP" dirty="0" err="1"/>
              <a:t>Powershell</a:t>
            </a:r>
            <a:r>
              <a:rPr kumimoji="1" lang="ja-JP" altLang="en-US" dirty="0"/>
              <a:t>の文字コードズレ、コマンドレスポンスの途中切れ）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■高速化施策</a:t>
            </a:r>
            <a:r>
              <a:rPr lang="en-US" altLang="ja-JP" dirty="0"/>
              <a:t>2-3</a:t>
            </a:r>
            <a:r>
              <a:rPr lang="ja-JP" altLang="en-US" dirty="0"/>
              <a:t>使用する</a:t>
            </a:r>
            <a:r>
              <a:rPr lang="en-US" altLang="ja-JP" dirty="0"/>
              <a:t>AI</a:t>
            </a:r>
            <a:r>
              <a:rPr lang="ja-JP" altLang="en-US" dirty="0"/>
              <a:t>モデルの適正化</a:t>
            </a:r>
            <a:endParaRPr kumimoji="1"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8B29ABF-D1D2-E063-28F0-EBA2B53A9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951" y="3845497"/>
            <a:ext cx="5518432" cy="301250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EA63A28-94DE-0881-D07C-7B769E8DF562}"/>
              </a:ext>
            </a:extLst>
          </p:cNvPr>
          <p:cNvSpPr txBox="1"/>
          <p:nvPr/>
        </p:nvSpPr>
        <p:spPr>
          <a:xfrm>
            <a:off x="415637" y="5509491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このページの</a:t>
            </a:r>
            <a:r>
              <a:rPr kumimoji="1" lang="ja-JP" altLang="en-US" dirty="0"/>
              <a:t>施策の有効性はまだ未検証</a:t>
            </a:r>
          </a:p>
        </p:txBody>
      </p:sp>
    </p:spTree>
    <p:extLst>
      <p:ext uri="{BB962C8B-B14F-4D97-AF65-F5344CB8AC3E}">
        <p14:creationId xmlns:p14="http://schemas.microsoft.com/office/powerpoint/2010/main" val="201594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10965-BAB2-98A6-5D70-347CBF72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D3CCB9-DAED-9DAB-BDB6-4986B29FE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306" y="5532437"/>
            <a:ext cx="5996709" cy="1325563"/>
          </a:xfrm>
        </p:spPr>
        <p:txBody>
          <a:bodyPr/>
          <a:lstStyle/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回　</a:t>
            </a:r>
            <a:r>
              <a:rPr kumimoji="1" lang="ja-JP" altLang="en-US" dirty="0"/>
              <a:t>開発結果</a:t>
            </a:r>
            <a:br>
              <a:rPr kumimoji="1" lang="en-US" altLang="ja-JP" dirty="0"/>
            </a:br>
            <a:r>
              <a:rPr kumimoji="1" lang="ja-JP" altLang="en-US" dirty="0"/>
              <a:t>～天国編～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18356CC-19A3-3869-8990-854736B9E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306" y="546674"/>
            <a:ext cx="5603131" cy="48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03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CB421-01BF-33A2-41A2-9BE0B20A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A637E-B4B0-B813-9F8E-FB81C985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AI-DLC</a:t>
            </a:r>
            <a:r>
              <a:rPr lang="ja-JP" altLang="en-US" dirty="0"/>
              <a:t>のシミュレーションを行った結果</a:t>
            </a:r>
            <a:br>
              <a:rPr lang="en-US" altLang="ja-JP" dirty="0"/>
            </a:br>
            <a:r>
              <a:rPr lang="ja-JP" altLang="en-US" dirty="0"/>
              <a:t>（</a:t>
            </a:r>
            <a:r>
              <a:rPr lang="en-US" altLang="ja-JP" dirty="0"/>
              <a:t>2026/06/30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6B0F49-87BE-DE0B-1A95-71685A6A7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6" y="1843569"/>
            <a:ext cx="7039957" cy="342947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8657A08-D2FE-0753-A020-09AD4199DE93}"/>
              </a:ext>
            </a:extLst>
          </p:cNvPr>
          <p:cNvSpPr txBox="1"/>
          <p:nvPr/>
        </p:nvSpPr>
        <p:spPr>
          <a:xfrm>
            <a:off x="7324240" y="5407709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コーディング時間に変化なし</a:t>
            </a:r>
            <a:endParaRPr kumimoji="1" lang="en-US" altLang="ja-JP" dirty="0"/>
          </a:p>
          <a:p>
            <a:r>
              <a:rPr lang="ja-JP" altLang="en-US" dirty="0"/>
              <a:t>アーキテクチャは</a:t>
            </a:r>
            <a:endParaRPr lang="en-US" altLang="ja-JP" dirty="0"/>
          </a:p>
          <a:p>
            <a:r>
              <a:rPr kumimoji="1" lang="en-US" altLang="ja-JP" dirty="0"/>
              <a:t>56</a:t>
            </a:r>
            <a:r>
              <a:rPr kumimoji="1" lang="ja-JP" altLang="en-US" dirty="0"/>
              <a:t>分⇒</a:t>
            </a:r>
            <a:r>
              <a:rPr kumimoji="1" lang="en-US" altLang="ja-JP" dirty="0"/>
              <a:t>19</a:t>
            </a:r>
            <a:r>
              <a:rPr kumimoji="1" lang="ja-JP" altLang="en-US" dirty="0"/>
              <a:t>分に短縮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434CFF1-29D6-FD4E-C7E3-9A3ADF27E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76" y="5836830"/>
            <a:ext cx="6630209" cy="573698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328D398E-CE25-FD1B-2F3A-A6A432A000DB}"/>
              </a:ext>
            </a:extLst>
          </p:cNvPr>
          <p:cNvSpPr/>
          <p:nvPr/>
        </p:nvSpPr>
        <p:spPr>
          <a:xfrm>
            <a:off x="3025302" y="5204298"/>
            <a:ext cx="690664" cy="5836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0467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F9A99-62A7-FF4D-D470-7D5AC9C9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高速化施策</a:t>
            </a:r>
            <a:r>
              <a:rPr kumimoji="1" lang="en-US" altLang="ja-JP" dirty="0"/>
              <a:t>3 </a:t>
            </a:r>
            <a:r>
              <a:rPr lang="ja-JP" altLang="en-US" dirty="0"/>
              <a:t>kiroが良く詰まるコマンド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C5E92F-C30A-E6EB-1833-BF7C011A7E5B}"/>
              </a:ext>
            </a:extLst>
          </p:cNvPr>
          <p:cNvSpPr txBox="1"/>
          <p:nvPr/>
        </p:nvSpPr>
        <p:spPr>
          <a:xfrm>
            <a:off x="403860" y="2337891"/>
            <a:ext cx="110718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/>
              <a:t>■</a:t>
            </a:r>
            <a:r>
              <a:rPr lang="en-US" altLang="ja-JP" sz="2400" dirty="0"/>
              <a:t>Python</a:t>
            </a:r>
            <a:r>
              <a:rPr lang="ja-JP" altLang="en-US" sz="2400" dirty="0"/>
              <a:t>コマンド</a:t>
            </a:r>
            <a:endParaRPr lang="en-US" altLang="ja-JP" sz="2400" dirty="0"/>
          </a:p>
          <a:p>
            <a:r>
              <a:rPr lang="ja-JP" altLang="en-US" sz="2400" dirty="0"/>
              <a:t>・python ○○.py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pip –install </a:t>
            </a:r>
            <a:r>
              <a:rPr lang="ja-JP" altLang="en-US" sz="2400" dirty="0"/>
              <a:t>○○</a:t>
            </a:r>
          </a:p>
          <a:p>
            <a:r>
              <a:rPr lang="ja-JP" altLang="en-US" sz="2400" dirty="0"/>
              <a:t>⇒</a:t>
            </a:r>
            <a:r>
              <a:rPr lang="en-US" altLang="ja-JP" sz="2400" dirty="0"/>
              <a:t>Path</a:t>
            </a:r>
            <a:r>
              <a:rPr lang="ja-JP" altLang="en-US" sz="2400" dirty="0"/>
              <a:t>の調整と</a:t>
            </a:r>
            <a:r>
              <a:rPr lang="ja-JP" altLang="ja-JP" sz="2400" dirty="0"/>
              <a:t>WindowsApps</a:t>
            </a:r>
            <a:r>
              <a:rPr lang="ja-JP" altLang="en-US" sz="2400" dirty="0"/>
              <a:t>の</a:t>
            </a:r>
            <a:r>
              <a:rPr lang="en-US" altLang="ja-JP" sz="2400" dirty="0"/>
              <a:t>python</a:t>
            </a:r>
            <a:r>
              <a:rPr lang="ja-JP" altLang="en-US" sz="2400" dirty="0"/>
              <a:t>設定を</a:t>
            </a:r>
            <a:r>
              <a:rPr lang="en-US" altLang="ja-JP" sz="2400" dirty="0"/>
              <a:t>OFF</a:t>
            </a:r>
          </a:p>
          <a:p>
            <a:endParaRPr lang="en-US" altLang="ja-JP" sz="2400" dirty="0"/>
          </a:p>
          <a:p>
            <a:r>
              <a:rPr lang="ja-JP" altLang="en-US" sz="2400" dirty="0"/>
              <a:t>■調査コマンド</a:t>
            </a:r>
            <a:endParaRPr lang="en-US" altLang="ja-JP" sz="2400" dirty="0"/>
          </a:p>
          <a:p>
            <a:r>
              <a:rPr lang="ja-JP" altLang="en-US" sz="2400" dirty="0"/>
              <a:t>・where python</a:t>
            </a:r>
            <a:endParaRPr lang="en-US" altLang="ja-JP" sz="2400" dirty="0"/>
          </a:p>
          <a:p>
            <a:r>
              <a:rPr lang="en-US" altLang="ja-JP" sz="2400" dirty="0"/>
              <a:t>PS</a:t>
            </a:r>
            <a:r>
              <a:rPr lang="ja-JP" altLang="en-US" sz="2400" dirty="0"/>
              <a:t>の</a:t>
            </a:r>
            <a:r>
              <a:rPr lang="en-US" altLang="ja-JP" sz="2400" dirty="0"/>
              <a:t>where-object</a:t>
            </a:r>
            <a:r>
              <a:rPr lang="ja-JP" altLang="en-US" sz="2400" dirty="0"/>
              <a:t>に持ってかれる。</a:t>
            </a:r>
            <a:endParaRPr lang="en-US" altLang="ja-JP" sz="2400" dirty="0"/>
          </a:p>
          <a:p>
            <a:r>
              <a:rPr lang="en-US" altLang="ja-JP" sz="2400" dirty="0"/>
              <a:t>PS</a:t>
            </a:r>
            <a:r>
              <a:rPr lang="ja-JP" altLang="en-US" sz="2400" dirty="0"/>
              <a:t>の定義で、エイリアスの設定変更</a:t>
            </a:r>
            <a:endParaRPr lang="en-US" altLang="ja-JP" sz="2400" dirty="0"/>
          </a:p>
          <a:p>
            <a:r>
              <a:rPr lang="en-US" altLang="ja-JP" sz="2400" dirty="0"/>
              <a:t>$PROFILE</a:t>
            </a:r>
            <a:r>
              <a:rPr lang="ja-JP" altLang="en-US" sz="2400" dirty="0"/>
              <a:t>でファイルを探して、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dirty="0"/>
              <a:t>Remove-Item </a:t>
            </a:r>
            <a:r>
              <a:rPr lang="en-US" altLang="ja-JP" sz="2400" dirty="0" err="1"/>
              <a:t>Alias:where</a:t>
            </a:r>
            <a:r>
              <a:rPr lang="en-US" altLang="ja-JP" sz="2400" dirty="0"/>
              <a:t> -</a:t>
            </a:r>
            <a:r>
              <a:rPr lang="en-US" altLang="ja-JP" sz="2400" dirty="0" err="1"/>
              <a:t>ErrorAction</a:t>
            </a:r>
            <a:r>
              <a:rPr lang="en-US" altLang="ja-JP" sz="2400" dirty="0"/>
              <a:t> </a:t>
            </a:r>
            <a:r>
              <a:rPr lang="en-US" altLang="ja-JP" sz="2400" dirty="0" err="1"/>
              <a:t>SilentlyContinue</a:t>
            </a:r>
            <a:r>
              <a:rPr lang="ja-JP" altLang="en-US" sz="2400" dirty="0"/>
              <a:t>」を末尾に追加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84CFE2B-85D4-EB35-85DB-E66DA4E8084E}"/>
              </a:ext>
            </a:extLst>
          </p:cNvPr>
          <p:cNvSpPr txBox="1"/>
          <p:nvPr/>
        </p:nvSpPr>
        <p:spPr>
          <a:xfrm>
            <a:off x="502920" y="153801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複数versionのpythonをインストールしていると、</a:t>
            </a:r>
            <a:r>
              <a:rPr lang="en-US" altLang="ja-JP" dirty="0"/>
              <a:t>path</a:t>
            </a:r>
            <a:r>
              <a:rPr lang="ja-JP" altLang="en-US" dirty="0"/>
              <a:t>がズレて標準のコマンドで動かない事があります。</a:t>
            </a:r>
            <a:endParaRPr lang="en-US" altLang="ja-JP" dirty="0"/>
          </a:p>
          <a:p>
            <a:r>
              <a:rPr lang="ja-JP" altLang="en-US" dirty="0"/>
              <a:t>この場合、</a:t>
            </a:r>
            <a:r>
              <a:rPr lang="en-US" altLang="ja-JP" dirty="0" err="1"/>
              <a:t>kiro</a:t>
            </a:r>
            <a:r>
              <a:rPr lang="ja-JP" altLang="en-US" dirty="0"/>
              <a:t>がそこそこの時間かけて問題調査を始めてしまいます</a:t>
            </a:r>
          </a:p>
        </p:txBody>
      </p:sp>
    </p:spTree>
    <p:extLst>
      <p:ext uri="{BB962C8B-B14F-4D97-AF65-F5344CB8AC3E}">
        <p14:creationId xmlns:p14="http://schemas.microsoft.com/office/powerpoint/2010/main" val="2491184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D8BFD-ED64-BCE3-3EA2-E2692062E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BABC09-103A-AB88-E999-6B67ECEF8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306" y="5532437"/>
            <a:ext cx="5996709" cy="1325563"/>
          </a:xfrm>
        </p:spPr>
        <p:txBody>
          <a:bodyPr/>
          <a:lstStyle/>
          <a:p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回　</a:t>
            </a:r>
            <a:r>
              <a:rPr kumimoji="1" lang="ja-JP" altLang="en-US" dirty="0"/>
              <a:t>開発結果</a:t>
            </a:r>
            <a:br>
              <a:rPr kumimoji="1" lang="en-US" altLang="ja-JP" dirty="0"/>
            </a:br>
            <a:r>
              <a:rPr kumimoji="1" lang="ja-JP" altLang="en-US" dirty="0"/>
              <a:t>～そして伝説へ～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EAA1FDB-483D-63C1-5E1B-89D0DD9B8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09" y="525293"/>
            <a:ext cx="8385797" cy="452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223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CE5A29-57EF-83D7-E843-7E087106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新たな施策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50C6BC-B59F-09EB-0277-059E7E9AC036}"/>
              </a:ext>
            </a:extLst>
          </p:cNvPr>
          <p:cNvSpPr txBox="1"/>
          <p:nvPr/>
        </p:nvSpPr>
        <p:spPr>
          <a:xfrm>
            <a:off x="1070043" y="1867711"/>
            <a:ext cx="94179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■施策</a:t>
            </a:r>
            <a:r>
              <a:rPr kumimoji="1" lang="en-US" altLang="ja-JP" dirty="0"/>
              <a:t>1</a:t>
            </a:r>
          </a:p>
          <a:p>
            <a:r>
              <a:rPr kumimoji="1" lang="en-US" altLang="ja-JP" dirty="0"/>
              <a:t>Kiro CLI</a:t>
            </a:r>
            <a:r>
              <a:rPr kumimoji="1" lang="ja-JP" altLang="en-US" dirty="0"/>
              <a:t>を導入（</a:t>
            </a:r>
            <a:r>
              <a:rPr kumimoji="1" lang="en-US" altLang="ja-JP" dirty="0"/>
              <a:t>/goal </a:t>
            </a:r>
            <a:r>
              <a:rPr kumimoji="1" lang="ja-JP" altLang="en-US" dirty="0"/>
              <a:t>プロンプトで最後まで</a:t>
            </a:r>
            <a:r>
              <a:rPr kumimoji="1" lang="en-US" altLang="ja-JP" dirty="0"/>
              <a:t>non</a:t>
            </a:r>
            <a:r>
              <a:rPr lang="ja-JP" altLang="en-US" dirty="0"/>
              <a:t> </a:t>
            </a:r>
            <a:r>
              <a:rPr kumimoji="1" lang="en-US" altLang="ja-JP" dirty="0"/>
              <a:t>stop</a:t>
            </a:r>
            <a:r>
              <a:rPr kumimoji="1" lang="ja-JP" altLang="en-US" dirty="0"/>
              <a:t>！）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■施策</a:t>
            </a:r>
            <a:r>
              <a:rPr kumimoji="1" lang="en-US" altLang="ja-JP" dirty="0"/>
              <a:t>2</a:t>
            </a:r>
          </a:p>
          <a:p>
            <a:r>
              <a:rPr lang="ja-JP" altLang="en-US" dirty="0"/>
              <a:t>各工程で調査エージェント・実作業エージェント・レビューエージェントによる移行作業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■施策</a:t>
            </a:r>
            <a:r>
              <a:rPr lang="en-US" altLang="ja-JP" dirty="0"/>
              <a:t>3</a:t>
            </a:r>
          </a:p>
          <a:p>
            <a:r>
              <a:rPr kumimoji="1" lang="en-US" altLang="ja-JP" dirty="0"/>
              <a:t>Slack</a:t>
            </a:r>
            <a:r>
              <a:rPr kumimoji="1" lang="ja-JP" altLang="en-US" dirty="0"/>
              <a:t>と連携し、各エージェントが</a:t>
            </a:r>
            <a:r>
              <a:rPr kumimoji="1" lang="en-US" altLang="ja-JP" dirty="0"/>
              <a:t>slack</a:t>
            </a:r>
            <a:r>
              <a:rPr kumimoji="1" lang="ja-JP" altLang="en-US" dirty="0"/>
              <a:t>で会話をしながら作業を進める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■施策</a:t>
            </a:r>
            <a:r>
              <a:rPr kumimoji="1" lang="en-US" altLang="ja-JP" dirty="0"/>
              <a:t>4</a:t>
            </a:r>
          </a:p>
          <a:p>
            <a:r>
              <a:rPr lang="ja-JP" altLang="en-US" dirty="0"/>
              <a:t>改善ループを導入し、仕様検討から開発・テストまでプラスで</a:t>
            </a:r>
            <a:r>
              <a:rPr lang="en-US" altLang="ja-JP" dirty="0"/>
              <a:t>2</a:t>
            </a:r>
            <a:r>
              <a:rPr lang="ja-JP" altLang="en-US" dirty="0"/>
              <a:t>回ループさせ、</a:t>
            </a:r>
            <a:endParaRPr lang="en-US" altLang="ja-JP" dirty="0"/>
          </a:p>
          <a:p>
            <a:r>
              <a:rPr kumimoji="1" lang="ja-JP" altLang="en-US" dirty="0"/>
              <a:t>品質を爆上げ</a:t>
            </a:r>
          </a:p>
        </p:txBody>
      </p:sp>
    </p:spTree>
    <p:extLst>
      <p:ext uri="{BB962C8B-B14F-4D97-AF65-F5344CB8AC3E}">
        <p14:creationId xmlns:p14="http://schemas.microsoft.com/office/powerpoint/2010/main" val="3365543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D8089B-7A66-7376-0726-7F7AA187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伝説の幕開け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E8E619-51E7-B48B-E2D4-C3C1AE7CC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すげぇー！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AI</a:t>
            </a:r>
            <a:r>
              <a:rPr kumimoji="1" lang="ja-JP" altLang="en-US" dirty="0"/>
              <a:t>達が会話しながら開発が進んでいく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AI</a:t>
            </a:r>
            <a:r>
              <a:rPr kumimoji="1" lang="ja-JP" altLang="en-US" dirty="0"/>
              <a:t>同士の会話見るのなんか楽しい。。。。</a:t>
            </a:r>
          </a:p>
        </p:txBody>
      </p:sp>
    </p:spTree>
    <p:extLst>
      <p:ext uri="{BB962C8B-B14F-4D97-AF65-F5344CB8AC3E}">
        <p14:creationId xmlns:p14="http://schemas.microsoft.com/office/powerpoint/2010/main" val="693767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DDD20B-47C4-CB02-D68B-A59C90A5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実際の開発風景はこちらです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B6AEBB-A5EE-48DB-928D-D9C90D3F9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3" y="1834500"/>
            <a:ext cx="7259063" cy="465837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4ED9EF-27AF-64A1-8AC6-FAADB0F86852}"/>
              </a:ext>
            </a:extLst>
          </p:cNvPr>
          <p:cNvSpPr txBox="1"/>
          <p:nvPr/>
        </p:nvSpPr>
        <p:spPr>
          <a:xfrm>
            <a:off x="7711906" y="2217906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全然仕事しない！！</a:t>
            </a:r>
          </a:p>
        </p:txBody>
      </p:sp>
    </p:spTree>
    <p:extLst>
      <p:ext uri="{BB962C8B-B14F-4D97-AF65-F5344CB8AC3E}">
        <p14:creationId xmlns:p14="http://schemas.microsoft.com/office/powerpoint/2010/main" val="464140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6F6C2-F9A6-ED46-5067-86C71873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本当はこちらです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D664D24-F7AF-3D97-C0BA-E1DF2BD17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9389"/>
            <a:ext cx="9274342" cy="523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67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F80146-C94E-A450-7AE3-89F1BFF3C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人間は殆ど開発に関わっていません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FB24E4-31B7-0AC1-76CB-5B3D560C6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2869"/>
          </a:xfrm>
        </p:spPr>
        <p:txBody>
          <a:bodyPr/>
          <a:lstStyle/>
          <a:p>
            <a:r>
              <a:rPr kumimoji="1" lang="ja-JP" altLang="en-US" dirty="0"/>
              <a:t>たまに止まって呼ばれることがありますが、</a:t>
            </a:r>
            <a:r>
              <a:rPr lang="ja-JP" altLang="en-US" dirty="0"/>
              <a:t>多分手を動かすには</a:t>
            </a:r>
            <a:r>
              <a:rPr lang="en-US" altLang="ja-JP" dirty="0"/>
              <a:t>10</a:t>
            </a:r>
            <a:r>
              <a:rPr lang="ja-JP" altLang="en-US" dirty="0"/>
              <a:t>分もないと思います。（</a:t>
            </a:r>
            <a:r>
              <a:rPr lang="en-US" altLang="ja-JP" dirty="0"/>
              <a:t>permit</a:t>
            </a:r>
            <a:r>
              <a:rPr lang="ja-JP" altLang="en-US" dirty="0"/>
              <a:t>ボタンクリックのみ）</a:t>
            </a: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CAB683-1437-95A2-526B-6DAEA52CB0E8}"/>
              </a:ext>
            </a:extLst>
          </p:cNvPr>
          <p:cNvSpPr txBox="1"/>
          <p:nvPr/>
        </p:nvSpPr>
        <p:spPr>
          <a:xfrm>
            <a:off x="3414408" y="3841175"/>
            <a:ext cx="363432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/>
              <a:t>11</a:t>
            </a:r>
            <a:r>
              <a:rPr kumimoji="1" lang="ja-JP" altLang="en-US" sz="4400" dirty="0"/>
              <a:t>時間の開発</a:t>
            </a:r>
            <a:endParaRPr kumimoji="1" lang="en-US" altLang="ja-JP" sz="4400" dirty="0"/>
          </a:p>
          <a:p>
            <a:r>
              <a:rPr kumimoji="1" lang="ja-JP" altLang="en-US" sz="4400" dirty="0"/>
              <a:t>⇒</a:t>
            </a:r>
            <a:r>
              <a:rPr kumimoji="1" lang="en-US" altLang="ja-JP" sz="4400" dirty="0"/>
              <a:t>1</a:t>
            </a:r>
            <a:r>
              <a:rPr kumimoji="1" lang="ja-JP" altLang="en-US" sz="4400" dirty="0"/>
              <a:t>時間</a:t>
            </a:r>
            <a:r>
              <a:rPr kumimoji="1" lang="en-US" altLang="ja-JP" sz="4400" dirty="0"/>
              <a:t>30</a:t>
            </a:r>
            <a:r>
              <a:rPr kumimoji="1" lang="ja-JP" altLang="en-US" sz="4400" dirty="0"/>
              <a:t>分</a:t>
            </a:r>
            <a:endParaRPr kumimoji="1" lang="en-US" altLang="ja-JP" sz="4400" dirty="0"/>
          </a:p>
          <a:p>
            <a:r>
              <a:rPr kumimoji="1" lang="ja-JP" altLang="en-US" sz="4400" dirty="0"/>
              <a:t>⇒</a:t>
            </a:r>
            <a:r>
              <a:rPr kumimoji="1" lang="en-US" altLang="ja-JP" sz="4400" dirty="0"/>
              <a:t>10</a:t>
            </a:r>
            <a:r>
              <a:rPr kumimoji="1" lang="ja-JP" altLang="en-US" sz="4400" dirty="0"/>
              <a:t>分</a:t>
            </a:r>
            <a:endParaRPr kumimoji="1"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4196676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2ED0FB-A0E8-0AC6-9BB6-9A76C338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サンプル</a:t>
            </a:r>
            <a:r>
              <a:rPr kumimoji="1" lang="en-US" altLang="ja-JP" dirty="0"/>
              <a:t>GUI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26A80DC-A61A-AFF3-2D01-ACC7595A0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597" y="365125"/>
            <a:ext cx="7437241" cy="625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91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7A8D4D-8E6F-FD94-3A12-4B0C8C768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21" y="2865134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1512785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843</Words>
  <PresentationFormat>ワイド画面</PresentationFormat>
  <Paragraphs>109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游ゴシック</vt:lpstr>
      <vt:lpstr>游ゴシック Light</vt:lpstr>
      <vt:lpstr>Arial</vt:lpstr>
      <vt:lpstr>Office テーマ</vt:lpstr>
      <vt:lpstr>Kiroを使って開発しました （地獄から天国～そして伝説へ～）</vt:lpstr>
      <vt:lpstr>Kiroって知っていますか？</vt:lpstr>
      <vt:lpstr>Kiroを使った開発</vt:lpstr>
      <vt:lpstr>アプリケーションの仕様</vt:lpstr>
      <vt:lpstr>アプリケーションの構成</vt:lpstr>
      <vt:lpstr>第1回　開発結果 ～地獄編～</vt:lpstr>
      <vt:lpstr>AI-DLCのシミュレーションを行った結果 （2026/06/26）</vt:lpstr>
      <vt:lpstr>5つの高速化施策</vt:lpstr>
      <vt:lpstr>マルチエージェントとサブエージェント</vt:lpstr>
      <vt:lpstr>第2回　開発結果 ～天国編～</vt:lpstr>
      <vt:lpstr>AI-DLCのシミュレーションを行った結果 （2026/06/29）</vt:lpstr>
      <vt:lpstr>高速化施策2 （2回目シミュレーションの反省）</vt:lpstr>
      <vt:lpstr>第3回　開発結果 ～天国編～</vt:lpstr>
      <vt:lpstr>AI-DLCのシミュレーションを行った結果 （2026/06/30）</vt:lpstr>
      <vt:lpstr>高速化施策3 kiroが良く詰まるコマンド</vt:lpstr>
      <vt:lpstr>第4回　開発結果 ～そして伝説へ～</vt:lpstr>
      <vt:lpstr>新たな施策</vt:lpstr>
      <vt:lpstr>伝説の幕開け</vt:lpstr>
      <vt:lpstr>実際の開発風景はこちらです</vt:lpstr>
      <vt:lpstr>本当はこちらです</vt:lpstr>
      <vt:lpstr>人間は殆ど開発に関わっていません</vt:lpstr>
      <vt:lpstr>サンプルGUI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2026-05-08T05:50:43Z</dcterms:created>
  <dcterms:modified xsi:type="dcterms:W3CDTF">2026-07-23T12:32:25Z</dcterms:modified>
</cp:coreProperties>
</file>