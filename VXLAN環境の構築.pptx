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1E33FD-0293-ADDF-7EA2-FB1C2DE0E32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FB032FC-0E80-72C9-5D6A-505472D062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6BB2A2F-FA14-373C-A3B5-0B64FB78A61E}"/>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D29223CE-6379-3EE1-F90A-B816192DCCB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211BE3-5557-A3D8-CE02-9463EB389279}"/>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4044788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37F3ED-F45F-2EDC-4259-623DF840CFE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787CEA4-AE47-579B-B286-7D6C17FE895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1C7F2D1-0C34-8823-DDFD-9FF5BEFD2DF8}"/>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0106BE4B-DF97-C115-D64D-607AA14F328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A812F99-243E-DBE6-7275-98769D246C77}"/>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2474290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C88F21-95C9-C740-A4A4-0D1EB5F14FB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C6BB00A-F96B-5BD7-0672-93EF997680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4D96F92-E777-EE6A-8683-F8B5B121FFB2}"/>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DF694989-FB3A-A517-29AA-94BAAF96A5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E9FB715-49C5-D2B2-E111-1AFB359EFDB5}"/>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1403130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61C873-A43E-DBE5-AE9A-A7A4088F4F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0843B92-F0E2-C77B-F4B7-424E7654171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9C17E88-84DF-BB91-510F-814E1390B38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BD977AA-BAAD-0A06-D464-CDE191B4C2C4}"/>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6" name="フッター プレースホルダー 5">
            <a:extLst>
              <a:ext uri="{FF2B5EF4-FFF2-40B4-BE49-F238E27FC236}">
                <a16:creationId xmlns:a16="http://schemas.microsoft.com/office/drawing/2014/main" id="{9AE4ADBC-CF63-05C9-7EB4-EB48FEB32D6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5491EBA-F875-4C78-B3C3-6B1DE2CC1A43}"/>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2939531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857EC9-3BD4-CB64-B588-438F5E58010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4BDFDDB-409C-CC6B-3249-737D869777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F3D8896-7C59-92A3-3B77-B51684F4789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BFE4A1C-2D2F-D494-9FB2-9956C4DB21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F9CF79B-96CC-A122-8B5A-275DD80E1D7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EDAB2A1-80E0-A880-279C-C7BAA227E8F2}"/>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8" name="フッター プレースホルダー 7">
            <a:extLst>
              <a:ext uri="{FF2B5EF4-FFF2-40B4-BE49-F238E27FC236}">
                <a16:creationId xmlns:a16="http://schemas.microsoft.com/office/drawing/2014/main" id="{7E078D11-4FE3-63EF-24FE-830B19AD3F5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CC56992-5240-2A05-1DE6-B6072F6A15C9}"/>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865729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D1D254-6463-646C-82B4-DA7F3D78052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C8382CC-73A8-4466-53DE-30F7C9E17CE9}"/>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4" name="フッター プレースホルダー 3">
            <a:extLst>
              <a:ext uri="{FF2B5EF4-FFF2-40B4-BE49-F238E27FC236}">
                <a16:creationId xmlns:a16="http://schemas.microsoft.com/office/drawing/2014/main" id="{08DBEB6D-FD19-A40F-2161-0A37F819711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F84BA81-14A3-B8F6-903E-D1770A8003CE}"/>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319086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80E491F-BD74-2314-16E3-92D2E5FC0CC2}"/>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3" name="フッター プレースホルダー 2">
            <a:extLst>
              <a:ext uri="{FF2B5EF4-FFF2-40B4-BE49-F238E27FC236}">
                <a16:creationId xmlns:a16="http://schemas.microsoft.com/office/drawing/2014/main" id="{7B3DD637-A919-BECD-312F-589A7325D20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EA07B22-B6B3-B680-0826-C9FE13CBDA50}"/>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3301917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E9C552-40B8-B675-AD6B-3D9048DC9E6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EF4E44-93D4-7784-0F4A-A2A3C32580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C5439B5-D610-F7DD-2CCE-528AEBE1AB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2EB52CB-B8F4-712D-B7CB-BB6FFD3C7AEB}"/>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6" name="フッター プレースホルダー 5">
            <a:extLst>
              <a:ext uri="{FF2B5EF4-FFF2-40B4-BE49-F238E27FC236}">
                <a16:creationId xmlns:a16="http://schemas.microsoft.com/office/drawing/2014/main" id="{C6EA09C6-6A5F-CEC7-7438-7858E6F1E3C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7632E49-0A45-736D-1FD0-B82C93457ECB}"/>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3124515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A83C4E-EF03-09B8-14DD-94373970756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B016833-458C-7369-1E25-A9787B9D81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CDE26E5-AFF5-CB17-6092-6A674F8A6D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CE9B22D-D15F-71A8-256A-32CDF4DB6F79}"/>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6" name="フッター プレースホルダー 5">
            <a:extLst>
              <a:ext uri="{FF2B5EF4-FFF2-40B4-BE49-F238E27FC236}">
                <a16:creationId xmlns:a16="http://schemas.microsoft.com/office/drawing/2014/main" id="{5C21F3DF-02E0-5B71-242A-1BD6470F11C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3CD38C9-20E3-1BDB-8179-D0964885F3E5}"/>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2435604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4CBE29-14F4-0CB7-490B-C2FF2D0CA27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B1D7900-D2B1-902A-99A9-6F52656C7CA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4034F4-34CA-8BE0-094C-81E002671003}"/>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49A1260D-069E-C211-49E4-89606C0A2C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1D5729E-EE7E-7EA3-3439-31BE830CA7ED}"/>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2630725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2213210-2E5F-66F6-E5E0-D931D6AA64F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525AC69-6CF1-C111-17D5-AE06CFBBD80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BB21890-1E15-FF1B-5516-8E85FA4B371D}"/>
              </a:ext>
            </a:extLst>
          </p:cNvPr>
          <p:cNvSpPr>
            <a:spLocks noGrp="1"/>
          </p:cNvSpPr>
          <p:nvPr>
            <p:ph type="dt" sz="half" idx="10"/>
          </p:nvPr>
        </p:nvSpPr>
        <p:spPr/>
        <p:txBody>
          <a:bodyPr/>
          <a:lstStyle/>
          <a:p>
            <a:fld id="{C3BAEB4B-0CF7-4AB8-8F34-334BDA882532}"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7D5F11AF-E588-1C33-A83C-75DD931D38E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EFBDB74-CC20-26AE-489F-B47A3DE031A6}"/>
              </a:ext>
            </a:extLst>
          </p:cNvPr>
          <p:cNvSpPr>
            <a:spLocks noGrp="1"/>
          </p:cNvSpPr>
          <p:nvPr>
            <p:ph type="sldNum" sz="quarter" idx="12"/>
          </p:nvPr>
        </p:nvSpPr>
        <p:spPr/>
        <p:txBody>
          <a:body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3449048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3BE9272-561A-33E8-5F8C-DF381DB0DE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D657121-318E-85FD-59A7-CC3446E16C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E046542-7A48-221E-E901-9B36AE49CC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BAEB4B-0CF7-4AB8-8F34-334BDA882532}" type="datetimeFigureOut">
              <a:rPr kumimoji="1" lang="ja-JP" altLang="en-US" smtClean="0"/>
              <a:t>2026/7/22</a:t>
            </a:fld>
            <a:endParaRPr kumimoji="1" lang="ja-JP" altLang="en-US"/>
          </a:p>
        </p:txBody>
      </p:sp>
      <p:sp>
        <p:nvSpPr>
          <p:cNvPr id="5" name="フッター プレースホルダー 4">
            <a:extLst>
              <a:ext uri="{FF2B5EF4-FFF2-40B4-BE49-F238E27FC236}">
                <a16:creationId xmlns:a16="http://schemas.microsoft.com/office/drawing/2014/main" id="{41F902E4-3370-7220-364A-339F4A0F23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FD285E0-43ED-1A6B-99C3-623AE957A9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0BAB78-96A2-4B59-9B66-12E470547450}" type="slidenum">
              <a:rPr kumimoji="1" lang="ja-JP" altLang="en-US" smtClean="0"/>
              <a:t>‹#›</a:t>
            </a:fld>
            <a:endParaRPr kumimoji="1" lang="ja-JP" altLang="en-US"/>
          </a:p>
        </p:txBody>
      </p:sp>
    </p:spTree>
    <p:extLst>
      <p:ext uri="{BB962C8B-B14F-4D97-AF65-F5344CB8AC3E}">
        <p14:creationId xmlns:p14="http://schemas.microsoft.com/office/powerpoint/2010/main" val="14005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AA75E5-5AA1-4DEE-8D04-5B6FF9EA9B38}"/>
              </a:ext>
            </a:extLst>
          </p:cNvPr>
          <p:cNvSpPr>
            <a:spLocks noGrp="1"/>
          </p:cNvSpPr>
          <p:nvPr>
            <p:ph type="ctrTitle"/>
          </p:nvPr>
        </p:nvSpPr>
        <p:spPr/>
        <p:txBody>
          <a:bodyPr/>
          <a:lstStyle/>
          <a:p>
            <a:r>
              <a:rPr kumimoji="1" lang="en-US" altLang="ja-JP" dirty="0"/>
              <a:t>VXLAN</a:t>
            </a:r>
            <a:r>
              <a:rPr kumimoji="1" lang="ja-JP" altLang="en-US" dirty="0"/>
              <a:t>環境の構築</a:t>
            </a:r>
          </a:p>
        </p:txBody>
      </p:sp>
      <p:sp>
        <p:nvSpPr>
          <p:cNvPr id="3" name="字幕 2">
            <a:extLst>
              <a:ext uri="{FF2B5EF4-FFF2-40B4-BE49-F238E27FC236}">
                <a16:creationId xmlns:a16="http://schemas.microsoft.com/office/drawing/2014/main" id="{C1DAE111-894B-9C17-0EB5-336CE55324D3}"/>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2951519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42C8E4-D44B-534E-947E-28E7D8F0619D}"/>
              </a:ext>
            </a:extLst>
          </p:cNvPr>
          <p:cNvSpPr>
            <a:spLocks noGrp="1"/>
          </p:cNvSpPr>
          <p:nvPr>
            <p:ph type="title"/>
          </p:nvPr>
        </p:nvSpPr>
        <p:spPr/>
        <p:txBody>
          <a:bodyPr/>
          <a:lstStyle/>
          <a:p>
            <a:r>
              <a:rPr kumimoji="1" lang="ja-JP" altLang="en-US" dirty="0"/>
              <a:t>背景</a:t>
            </a:r>
          </a:p>
        </p:txBody>
      </p:sp>
      <p:sp>
        <p:nvSpPr>
          <p:cNvPr id="3" name="コンテンツ プレースホルダー 2">
            <a:extLst>
              <a:ext uri="{FF2B5EF4-FFF2-40B4-BE49-F238E27FC236}">
                <a16:creationId xmlns:a16="http://schemas.microsoft.com/office/drawing/2014/main" id="{258DBFF4-7DEE-D70D-17C2-A02A6ABCE126}"/>
              </a:ext>
            </a:extLst>
          </p:cNvPr>
          <p:cNvSpPr>
            <a:spLocks noGrp="1"/>
          </p:cNvSpPr>
          <p:nvPr>
            <p:ph idx="1"/>
          </p:nvPr>
        </p:nvSpPr>
        <p:spPr/>
        <p:txBody>
          <a:bodyPr/>
          <a:lstStyle/>
          <a:p>
            <a:r>
              <a:rPr kumimoji="1" lang="ja-JP" altLang="en-US" dirty="0"/>
              <a:t>パッケージ化されたソフトウェアは固定の</a:t>
            </a:r>
            <a:r>
              <a:rPr kumimoji="1" lang="en-US" altLang="ja-JP" dirty="0"/>
              <a:t>IP</a:t>
            </a:r>
            <a:r>
              <a:rPr kumimoji="1" lang="ja-JP" altLang="en-US" dirty="0"/>
              <a:t>アドレスを使用して動作する事があります。</a:t>
            </a:r>
            <a:endParaRPr kumimoji="1" lang="en-US" altLang="ja-JP" dirty="0"/>
          </a:p>
          <a:p>
            <a:endParaRPr lang="en-US" altLang="ja-JP" dirty="0"/>
          </a:p>
          <a:p>
            <a:r>
              <a:rPr kumimoji="1" lang="ja-JP" altLang="en-US" dirty="0"/>
              <a:t>同じ</a:t>
            </a:r>
            <a:r>
              <a:rPr kumimoji="1" lang="en-US" altLang="ja-JP" dirty="0"/>
              <a:t>IP</a:t>
            </a:r>
            <a:r>
              <a:rPr kumimoji="1" lang="ja-JP" altLang="en-US" dirty="0"/>
              <a:t>アドレス帯を保持するシステム間の連携が必要になる事はありませんか？</a:t>
            </a:r>
            <a:endParaRPr kumimoji="1" lang="en-US" altLang="ja-JP" dirty="0"/>
          </a:p>
          <a:p>
            <a:endParaRPr lang="en-US" altLang="ja-JP" dirty="0"/>
          </a:p>
          <a:p>
            <a:r>
              <a:rPr kumimoji="1" lang="ja-JP" altLang="en-US" dirty="0"/>
              <a:t>同じ</a:t>
            </a:r>
            <a:r>
              <a:rPr kumimoji="1" lang="en-US" altLang="ja-JP" dirty="0"/>
              <a:t>IP</a:t>
            </a:r>
            <a:r>
              <a:rPr kumimoji="1" lang="ja-JP" altLang="en-US" dirty="0"/>
              <a:t>アドレス帯のシステム連携をネットワーク越しで動作させる仕組みが</a:t>
            </a:r>
            <a:r>
              <a:rPr kumimoji="1" lang="en-US" altLang="ja-JP" dirty="0"/>
              <a:t>VXLAN</a:t>
            </a:r>
            <a:r>
              <a:rPr kumimoji="1" lang="ja-JP" altLang="en-US" dirty="0"/>
              <a:t>です。</a:t>
            </a:r>
          </a:p>
        </p:txBody>
      </p:sp>
    </p:spTree>
    <p:extLst>
      <p:ext uri="{BB962C8B-B14F-4D97-AF65-F5344CB8AC3E}">
        <p14:creationId xmlns:p14="http://schemas.microsoft.com/office/powerpoint/2010/main" val="2422006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C49E42-3830-CD36-64B8-AF3B7B88CFDD}"/>
              </a:ext>
            </a:extLst>
          </p:cNvPr>
          <p:cNvSpPr>
            <a:spLocks noGrp="1"/>
          </p:cNvSpPr>
          <p:nvPr>
            <p:ph type="title"/>
          </p:nvPr>
        </p:nvSpPr>
        <p:spPr/>
        <p:txBody>
          <a:bodyPr/>
          <a:lstStyle/>
          <a:p>
            <a:r>
              <a:rPr kumimoji="1" lang="en-US" altLang="ja-JP" dirty="0"/>
              <a:t>VXLAN</a:t>
            </a:r>
            <a:r>
              <a:rPr kumimoji="1" lang="ja-JP" altLang="en-US" dirty="0"/>
              <a:t>の概要</a:t>
            </a:r>
          </a:p>
        </p:txBody>
      </p:sp>
      <p:pic>
        <p:nvPicPr>
          <p:cNvPr id="5" name="図 4">
            <a:extLst>
              <a:ext uri="{FF2B5EF4-FFF2-40B4-BE49-F238E27FC236}">
                <a16:creationId xmlns:a16="http://schemas.microsoft.com/office/drawing/2014/main" id="{485988CC-D70E-3EA3-C05F-BC8B8F75D3CA}"/>
              </a:ext>
            </a:extLst>
          </p:cNvPr>
          <p:cNvPicPr>
            <a:picLocks noChangeAspect="1"/>
          </p:cNvPicPr>
          <p:nvPr/>
        </p:nvPicPr>
        <p:blipFill>
          <a:blip r:embed="rId2"/>
          <a:stretch>
            <a:fillRect/>
          </a:stretch>
        </p:blipFill>
        <p:spPr>
          <a:xfrm>
            <a:off x="256632" y="2691870"/>
            <a:ext cx="7773485" cy="3801005"/>
          </a:xfrm>
          <a:prstGeom prst="rect">
            <a:avLst/>
          </a:prstGeom>
        </p:spPr>
      </p:pic>
      <p:sp>
        <p:nvSpPr>
          <p:cNvPr id="6" name="テキスト ボックス 5">
            <a:extLst>
              <a:ext uri="{FF2B5EF4-FFF2-40B4-BE49-F238E27FC236}">
                <a16:creationId xmlns:a16="http://schemas.microsoft.com/office/drawing/2014/main" id="{C22CF192-F3EB-9A53-4C2D-214239E145EB}"/>
              </a:ext>
            </a:extLst>
          </p:cNvPr>
          <p:cNvSpPr txBox="1"/>
          <p:nvPr/>
        </p:nvSpPr>
        <p:spPr>
          <a:xfrm>
            <a:off x="628650" y="1876425"/>
            <a:ext cx="11104322" cy="369332"/>
          </a:xfrm>
          <a:prstGeom prst="rect">
            <a:avLst/>
          </a:prstGeom>
          <a:noFill/>
        </p:spPr>
        <p:txBody>
          <a:bodyPr wrap="none" rtlCol="0">
            <a:spAutoFit/>
          </a:bodyPr>
          <a:lstStyle/>
          <a:p>
            <a:r>
              <a:rPr kumimoji="1" lang="en-US" altLang="ja-JP" dirty="0"/>
              <a:t>L3</a:t>
            </a:r>
            <a:r>
              <a:rPr kumimoji="1" lang="ja-JP" altLang="en-US" dirty="0"/>
              <a:t>転送用の情報で元のフレームをカプセル化し</a:t>
            </a:r>
            <a:r>
              <a:rPr lang="ja-JP" altLang="en-US" dirty="0"/>
              <a:t>、ネットワーク越しで</a:t>
            </a:r>
            <a:r>
              <a:rPr lang="en-US" altLang="ja-JP" dirty="0"/>
              <a:t>L2</a:t>
            </a:r>
            <a:r>
              <a:rPr lang="ja-JP" altLang="en-US" dirty="0"/>
              <a:t>通信が出来るようにしています。</a:t>
            </a:r>
            <a:endParaRPr kumimoji="1" lang="ja-JP" altLang="en-US" dirty="0"/>
          </a:p>
        </p:txBody>
      </p:sp>
    </p:spTree>
    <p:extLst>
      <p:ext uri="{BB962C8B-B14F-4D97-AF65-F5344CB8AC3E}">
        <p14:creationId xmlns:p14="http://schemas.microsoft.com/office/powerpoint/2010/main" val="3721434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4E6069-FBE7-5593-B024-778193033C38}"/>
              </a:ext>
            </a:extLst>
          </p:cNvPr>
          <p:cNvSpPr>
            <a:spLocks noGrp="1"/>
          </p:cNvSpPr>
          <p:nvPr>
            <p:ph type="title"/>
          </p:nvPr>
        </p:nvSpPr>
        <p:spPr/>
        <p:txBody>
          <a:bodyPr/>
          <a:lstStyle/>
          <a:p>
            <a:r>
              <a:rPr kumimoji="1" lang="en-US" altLang="ja-JP" dirty="0"/>
              <a:t>Step1 </a:t>
            </a:r>
            <a:r>
              <a:rPr kumimoji="1" lang="ja-JP" altLang="en-US" dirty="0"/>
              <a:t>仮想サーバー間の</a:t>
            </a:r>
            <a:r>
              <a:rPr kumimoji="1" lang="en-US" altLang="ja-JP" dirty="0"/>
              <a:t>VXLAN</a:t>
            </a:r>
            <a:r>
              <a:rPr kumimoji="1" lang="ja-JP" altLang="en-US" dirty="0"/>
              <a:t>通信</a:t>
            </a:r>
          </a:p>
        </p:txBody>
      </p:sp>
      <p:pic>
        <p:nvPicPr>
          <p:cNvPr id="5" name="グラフィックス 4" descr="コンピューター 単色塗りつぶし">
            <a:extLst>
              <a:ext uri="{FF2B5EF4-FFF2-40B4-BE49-F238E27FC236}">
                <a16:creationId xmlns:a16="http://schemas.microsoft.com/office/drawing/2014/main" id="{02C745D5-AFF7-2C00-F1D8-019831A413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686800" y="2343150"/>
            <a:ext cx="914400" cy="914400"/>
          </a:xfrm>
          <a:prstGeom prst="rect">
            <a:avLst/>
          </a:prstGeom>
        </p:spPr>
      </p:pic>
      <p:pic>
        <p:nvPicPr>
          <p:cNvPr id="7" name="グラフィックス 6" descr="コンピューター 単色塗りつぶし">
            <a:extLst>
              <a:ext uri="{FF2B5EF4-FFF2-40B4-BE49-F238E27FC236}">
                <a16:creationId xmlns:a16="http://schemas.microsoft.com/office/drawing/2014/main" id="{E7C70C45-1944-EDD7-6533-829E98C676B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5500" y="2343150"/>
            <a:ext cx="914400" cy="914400"/>
          </a:xfrm>
          <a:prstGeom prst="rect">
            <a:avLst/>
          </a:prstGeom>
        </p:spPr>
      </p:pic>
      <p:cxnSp>
        <p:nvCxnSpPr>
          <p:cNvPr id="9" name="直線コネクタ 8">
            <a:extLst>
              <a:ext uri="{FF2B5EF4-FFF2-40B4-BE49-F238E27FC236}">
                <a16:creationId xmlns:a16="http://schemas.microsoft.com/office/drawing/2014/main" id="{BBC0726E-FAF0-6BDC-8B3E-9CB6EC4AC97B}"/>
              </a:ext>
            </a:extLst>
          </p:cNvPr>
          <p:cNvCxnSpPr>
            <a:cxnSpLocks/>
            <a:stCxn id="7" idx="3"/>
            <a:endCxn id="5" idx="1"/>
          </p:cNvCxnSpPr>
          <p:nvPr/>
        </p:nvCxnSpPr>
        <p:spPr>
          <a:xfrm>
            <a:off x="3009900" y="2800350"/>
            <a:ext cx="5676900"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9E62FEAA-5D48-A303-07B9-5C8CD9A5808E}"/>
              </a:ext>
            </a:extLst>
          </p:cNvPr>
          <p:cNvSpPr txBox="1"/>
          <p:nvPr/>
        </p:nvSpPr>
        <p:spPr>
          <a:xfrm>
            <a:off x="1623227" y="2147888"/>
            <a:ext cx="1935145" cy="369332"/>
          </a:xfrm>
          <a:prstGeom prst="rect">
            <a:avLst/>
          </a:prstGeom>
          <a:noFill/>
        </p:spPr>
        <p:txBody>
          <a:bodyPr wrap="none" rtlCol="0">
            <a:spAutoFit/>
          </a:bodyPr>
          <a:lstStyle/>
          <a:p>
            <a:r>
              <a:rPr kumimoji="1" lang="en-US" altLang="ja-JP" dirty="0"/>
              <a:t>Ubuntu Server A</a:t>
            </a:r>
            <a:endParaRPr kumimoji="1" lang="ja-JP" altLang="en-US" dirty="0"/>
          </a:p>
        </p:txBody>
      </p:sp>
      <p:sp>
        <p:nvSpPr>
          <p:cNvPr id="14" name="テキスト ボックス 13">
            <a:extLst>
              <a:ext uri="{FF2B5EF4-FFF2-40B4-BE49-F238E27FC236}">
                <a16:creationId xmlns:a16="http://schemas.microsoft.com/office/drawing/2014/main" id="{A386E22D-B81A-AEFC-6BC7-53DF8475A474}"/>
              </a:ext>
            </a:extLst>
          </p:cNvPr>
          <p:cNvSpPr txBox="1"/>
          <p:nvPr/>
        </p:nvSpPr>
        <p:spPr>
          <a:xfrm>
            <a:off x="8161355" y="2158484"/>
            <a:ext cx="1943161" cy="369332"/>
          </a:xfrm>
          <a:prstGeom prst="rect">
            <a:avLst/>
          </a:prstGeom>
          <a:noFill/>
        </p:spPr>
        <p:txBody>
          <a:bodyPr wrap="none" rtlCol="0">
            <a:spAutoFit/>
          </a:bodyPr>
          <a:lstStyle/>
          <a:p>
            <a:r>
              <a:rPr kumimoji="1" lang="en-US" altLang="ja-JP" dirty="0"/>
              <a:t>Ubuntu Server B</a:t>
            </a:r>
            <a:endParaRPr kumimoji="1" lang="ja-JP" altLang="en-US" dirty="0"/>
          </a:p>
        </p:txBody>
      </p:sp>
      <p:sp>
        <p:nvSpPr>
          <p:cNvPr id="15" name="テキスト ボックス 14">
            <a:extLst>
              <a:ext uri="{FF2B5EF4-FFF2-40B4-BE49-F238E27FC236}">
                <a16:creationId xmlns:a16="http://schemas.microsoft.com/office/drawing/2014/main" id="{5CA3679E-04B2-B855-CD99-DD1FE5ED757A}"/>
              </a:ext>
            </a:extLst>
          </p:cNvPr>
          <p:cNvSpPr txBox="1"/>
          <p:nvPr/>
        </p:nvSpPr>
        <p:spPr>
          <a:xfrm>
            <a:off x="2517004" y="3206918"/>
            <a:ext cx="193033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a:t>Interface ens33</a:t>
            </a:r>
          </a:p>
          <a:p>
            <a:r>
              <a:rPr lang="en-US" altLang="ja-JP" dirty="0"/>
              <a:t>IP:192.168.3.128</a:t>
            </a:r>
            <a:endParaRPr kumimoji="1" lang="ja-JP" altLang="en-US" dirty="0"/>
          </a:p>
        </p:txBody>
      </p:sp>
      <p:sp>
        <p:nvSpPr>
          <p:cNvPr id="17" name="テキスト ボックス 16">
            <a:extLst>
              <a:ext uri="{FF2B5EF4-FFF2-40B4-BE49-F238E27FC236}">
                <a16:creationId xmlns:a16="http://schemas.microsoft.com/office/drawing/2014/main" id="{40DE9FCC-BC2B-6A76-7C7D-BF1D3EAE3033}"/>
              </a:ext>
            </a:extLst>
          </p:cNvPr>
          <p:cNvSpPr txBox="1"/>
          <p:nvPr/>
        </p:nvSpPr>
        <p:spPr>
          <a:xfrm>
            <a:off x="7744661" y="3137668"/>
            <a:ext cx="193033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a:t>Interface ens33</a:t>
            </a:r>
          </a:p>
          <a:p>
            <a:r>
              <a:rPr lang="en-US" altLang="ja-JP" dirty="0"/>
              <a:t>IP:192.168.3.129</a:t>
            </a:r>
            <a:endParaRPr kumimoji="1" lang="ja-JP" altLang="en-US" dirty="0"/>
          </a:p>
        </p:txBody>
      </p:sp>
      <p:sp>
        <p:nvSpPr>
          <p:cNvPr id="18" name="楕円 17">
            <a:extLst>
              <a:ext uri="{FF2B5EF4-FFF2-40B4-BE49-F238E27FC236}">
                <a16:creationId xmlns:a16="http://schemas.microsoft.com/office/drawing/2014/main" id="{D3795A28-75FA-9BA9-1975-7E689308B838}"/>
              </a:ext>
            </a:extLst>
          </p:cNvPr>
          <p:cNvSpPr/>
          <p:nvPr/>
        </p:nvSpPr>
        <p:spPr>
          <a:xfrm>
            <a:off x="2962485" y="274829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BC0B4C0F-4BF6-A562-6DAC-064571E6A85F}"/>
              </a:ext>
            </a:extLst>
          </p:cNvPr>
          <p:cNvSpPr/>
          <p:nvPr/>
        </p:nvSpPr>
        <p:spPr>
          <a:xfrm>
            <a:off x="8565587" y="273295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4813ED2A-6288-3973-009D-6F80E0ADD050}"/>
              </a:ext>
            </a:extLst>
          </p:cNvPr>
          <p:cNvSpPr/>
          <p:nvPr/>
        </p:nvSpPr>
        <p:spPr>
          <a:xfrm>
            <a:off x="2021702" y="2686579"/>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49F416E9-37D7-1A4B-F520-9FB195CD134A}"/>
              </a:ext>
            </a:extLst>
          </p:cNvPr>
          <p:cNvSpPr/>
          <p:nvPr/>
        </p:nvSpPr>
        <p:spPr>
          <a:xfrm>
            <a:off x="9516886" y="2732957"/>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BB0B0C74-EC32-ABCF-E42D-A82A78A25949}"/>
              </a:ext>
            </a:extLst>
          </p:cNvPr>
          <p:cNvSpPr txBox="1"/>
          <p:nvPr/>
        </p:nvSpPr>
        <p:spPr>
          <a:xfrm>
            <a:off x="362918" y="2488427"/>
            <a:ext cx="1574470" cy="923330"/>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a:t>Interface </a:t>
            </a:r>
            <a:r>
              <a:rPr lang="en-US" altLang="ja-JP" dirty="0"/>
              <a:t>dev</a:t>
            </a:r>
            <a:endParaRPr kumimoji="1" lang="en-US" altLang="ja-JP" dirty="0"/>
          </a:p>
          <a:p>
            <a:r>
              <a:rPr lang="en-US" altLang="ja-JP" dirty="0"/>
              <a:t>vlan100</a:t>
            </a:r>
          </a:p>
          <a:p>
            <a:r>
              <a:rPr lang="en-US" altLang="ja-JP" dirty="0"/>
              <a:t>IP:10.00.1</a:t>
            </a:r>
            <a:endParaRPr kumimoji="1" lang="ja-JP" altLang="en-US" dirty="0"/>
          </a:p>
        </p:txBody>
      </p:sp>
      <p:sp>
        <p:nvSpPr>
          <p:cNvPr id="28" name="テキスト ボックス 27">
            <a:extLst>
              <a:ext uri="{FF2B5EF4-FFF2-40B4-BE49-F238E27FC236}">
                <a16:creationId xmlns:a16="http://schemas.microsoft.com/office/drawing/2014/main" id="{727E0534-E21F-FF83-77D0-F0F7BFE0E5D1}"/>
              </a:ext>
            </a:extLst>
          </p:cNvPr>
          <p:cNvSpPr txBox="1"/>
          <p:nvPr/>
        </p:nvSpPr>
        <p:spPr>
          <a:xfrm>
            <a:off x="9842726" y="2491337"/>
            <a:ext cx="1574470" cy="923330"/>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a:t>Interface </a:t>
            </a:r>
            <a:r>
              <a:rPr lang="en-US" altLang="ja-JP" dirty="0"/>
              <a:t>dev</a:t>
            </a:r>
          </a:p>
          <a:p>
            <a:r>
              <a:rPr kumimoji="1" lang="en-US" altLang="ja-JP" dirty="0"/>
              <a:t>vlan100</a:t>
            </a:r>
          </a:p>
          <a:p>
            <a:r>
              <a:rPr lang="en-US" altLang="ja-JP" dirty="0"/>
              <a:t>IP:10.00.2</a:t>
            </a:r>
            <a:endParaRPr kumimoji="1" lang="ja-JP" altLang="en-US" dirty="0"/>
          </a:p>
        </p:txBody>
      </p:sp>
      <p:sp>
        <p:nvSpPr>
          <p:cNvPr id="30" name="テキスト ボックス 29">
            <a:extLst>
              <a:ext uri="{FF2B5EF4-FFF2-40B4-BE49-F238E27FC236}">
                <a16:creationId xmlns:a16="http://schemas.microsoft.com/office/drawing/2014/main" id="{7B7B02D6-9268-004E-8039-9A452C15BA45}"/>
              </a:ext>
            </a:extLst>
          </p:cNvPr>
          <p:cNvSpPr txBox="1"/>
          <p:nvPr/>
        </p:nvSpPr>
        <p:spPr>
          <a:xfrm>
            <a:off x="3589514" y="4259816"/>
            <a:ext cx="6096000" cy="2308324"/>
          </a:xfrm>
          <a:prstGeom prst="rect">
            <a:avLst/>
          </a:prstGeom>
          <a:noFill/>
        </p:spPr>
        <p:txBody>
          <a:bodyPr wrap="square">
            <a:spAutoFit/>
          </a:bodyPr>
          <a:lstStyle/>
          <a:p>
            <a:r>
              <a:rPr lang="ja-JP" altLang="en-US" dirty="0"/>
              <a:t>■設定内容（両方のサーバーに設定）</a:t>
            </a:r>
            <a:endParaRPr lang="en-US" altLang="ja-JP" dirty="0"/>
          </a:p>
          <a:p>
            <a:r>
              <a:rPr lang="en-US" altLang="ja-JP" dirty="0"/>
              <a:t>#VXLAN</a:t>
            </a:r>
            <a:r>
              <a:rPr lang="ja-JP" altLang="en-US" dirty="0"/>
              <a:t>のトンネル設定</a:t>
            </a:r>
            <a:endParaRPr lang="en-US" altLang="ja-JP" dirty="0"/>
          </a:p>
          <a:p>
            <a:r>
              <a:rPr lang="en-US" altLang="ja-JP" dirty="0" err="1"/>
              <a:t>sudo</a:t>
            </a:r>
            <a:r>
              <a:rPr lang="en-US" altLang="ja-JP" dirty="0"/>
              <a:t> </a:t>
            </a:r>
            <a:r>
              <a:rPr lang="en-US" altLang="ja-JP" dirty="0" err="1"/>
              <a:t>ip</a:t>
            </a:r>
            <a:r>
              <a:rPr lang="en-US" altLang="ja-JP" dirty="0"/>
              <a:t> link add vxlan100 type </a:t>
            </a:r>
            <a:r>
              <a:rPr lang="en-US" altLang="ja-JP" dirty="0" err="1"/>
              <a:t>vxlan</a:t>
            </a:r>
            <a:r>
              <a:rPr lang="en-US" altLang="ja-JP" dirty="0"/>
              <a:t> \</a:t>
            </a:r>
          </a:p>
          <a:p>
            <a:r>
              <a:rPr lang="en-US" altLang="ja-JP" dirty="0"/>
              <a:t>id 100 remote 10.0.0.2 local 10.0.0.1 </a:t>
            </a:r>
            <a:r>
              <a:rPr lang="en-US" altLang="ja-JP" dirty="0" err="1"/>
              <a:t>dstport</a:t>
            </a:r>
            <a:r>
              <a:rPr lang="en-US" altLang="ja-JP" dirty="0"/>
              <a:t> 4789</a:t>
            </a:r>
          </a:p>
          <a:p>
            <a:endParaRPr lang="en-US" altLang="ja-JP" dirty="0"/>
          </a:p>
          <a:p>
            <a:r>
              <a:rPr lang="en-US" altLang="ja-JP" dirty="0"/>
              <a:t>#VXLAN</a:t>
            </a:r>
            <a:r>
              <a:rPr lang="ja-JP" altLang="en-US" dirty="0"/>
              <a:t>の通信をしたい</a:t>
            </a:r>
            <a:r>
              <a:rPr lang="en-US" altLang="ja-JP" dirty="0"/>
              <a:t>IP</a:t>
            </a:r>
            <a:r>
              <a:rPr lang="ja-JP" altLang="en-US" dirty="0"/>
              <a:t>の設定</a:t>
            </a:r>
            <a:endParaRPr lang="en-US" altLang="ja-JP" dirty="0"/>
          </a:p>
          <a:p>
            <a:r>
              <a:rPr lang="ja-JP" altLang="en-US" dirty="0"/>
              <a:t>sudo ip addr add 192.168.100.1/24 dev vxlan100</a:t>
            </a:r>
          </a:p>
          <a:p>
            <a:r>
              <a:rPr lang="ja-JP" altLang="en-US" dirty="0"/>
              <a:t>sudo ip link set vxlan100 up</a:t>
            </a:r>
          </a:p>
        </p:txBody>
      </p:sp>
    </p:spTree>
    <p:extLst>
      <p:ext uri="{BB962C8B-B14F-4D97-AF65-F5344CB8AC3E}">
        <p14:creationId xmlns:p14="http://schemas.microsoft.com/office/powerpoint/2010/main" val="369057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BB7BE-6162-58F9-C66E-CF8D5A1188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04BB9E4-B5B2-9C6C-6DE4-4CB913F87732}"/>
              </a:ext>
            </a:extLst>
          </p:cNvPr>
          <p:cNvSpPr>
            <a:spLocks noGrp="1"/>
          </p:cNvSpPr>
          <p:nvPr>
            <p:ph type="title"/>
          </p:nvPr>
        </p:nvSpPr>
        <p:spPr/>
        <p:txBody>
          <a:bodyPr/>
          <a:lstStyle/>
          <a:p>
            <a:r>
              <a:rPr kumimoji="1" lang="en-US" altLang="ja-JP" dirty="0"/>
              <a:t>Step2</a:t>
            </a:r>
            <a:r>
              <a:rPr kumimoji="1" lang="ja-JP" altLang="en-US" dirty="0"/>
              <a:t>　スイッチを使った</a:t>
            </a:r>
            <a:r>
              <a:rPr kumimoji="1" lang="en-US" altLang="ja-JP" dirty="0"/>
              <a:t>VXLAN</a:t>
            </a:r>
            <a:r>
              <a:rPr lang="ja-JP" altLang="en-US" dirty="0"/>
              <a:t>概要</a:t>
            </a:r>
            <a:endParaRPr kumimoji="1" lang="ja-JP" altLang="en-US" dirty="0"/>
          </a:p>
        </p:txBody>
      </p:sp>
      <p:pic>
        <p:nvPicPr>
          <p:cNvPr id="4" name="グラフィックス 3" descr="コンピューター 単色塗りつぶし">
            <a:extLst>
              <a:ext uri="{FF2B5EF4-FFF2-40B4-BE49-F238E27FC236}">
                <a16:creationId xmlns:a16="http://schemas.microsoft.com/office/drawing/2014/main" id="{93C2D205-9A0C-B871-9E03-1CC8D5735F2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49344" y="2343150"/>
            <a:ext cx="914400" cy="914400"/>
          </a:xfrm>
          <a:prstGeom prst="rect">
            <a:avLst/>
          </a:prstGeom>
        </p:spPr>
      </p:pic>
      <p:pic>
        <p:nvPicPr>
          <p:cNvPr id="5" name="グラフィックス 4" descr="コンピューター 単色塗りつぶし">
            <a:extLst>
              <a:ext uri="{FF2B5EF4-FFF2-40B4-BE49-F238E27FC236}">
                <a16:creationId xmlns:a16="http://schemas.microsoft.com/office/drawing/2014/main" id="{C5BBB32B-327D-E8F8-7E8D-CB8F5E8842D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3100" y="2343150"/>
            <a:ext cx="914400" cy="914400"/>
          </a:xfrm>
          <a:prstGeom prst="rect">
            <a:avLst/>
          </a:prstGeom>
        </p:spPr>
      </p:pic>
      <p:cxnSp>
        <p:nvCxnSpPr>
          <p:cNvPr id="6" name="直線コネクタ 5">
            <a:extLst>
              <a:ext uri="{FF2B5EF4-FFF2-40B4-BE49-F238E27FC236}">
                <a16:creationId xmlns:a16="http://schemas.microsoft.com/office/drawing/2014/main" id="{ECAF7A29-2EF9-C6BE-6E86-556C5529C6D9}"/>
              </a:ext>
            </a:extLst>
          </p:cNvPr>
          <p:cNvCxnSpPr>
            <a:cxnSpLocks/>
            <a:stCxn id="11" idx="6"/>
            <a:endCxn id="25" idx="2"/>
          </p:cNvCxnSpPr>
          <p:nvPr/>
        </p:nvCxnSpPr>
        <p:spPr>
          <a:xfrm flipV="1">
            <a:off x="1708713" y="2800350"/>
            <a:ext cx="1518672" cy="35692"/>
          </a:xfrm>
          <a:prstGeom prst="line">
            <a:avLst/>
          </a:prstGeom>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D80281B3-A5C2-FB28-0E2D-B177C726065D}"/>
              </a:ext>
            </a:extLst>
          </p:cNvPr>
          <p:cNvSpPr txBox="1"/>
          <p:nvPr/>
        </p:nvSpPr>
        <p:spPr>
          <a:xfrm>
            <a:off x="200827" y="2147888"/>
            <a:ext cx="1935145" cy="369332"/>
          </a:xfrm>
          <a:prstGeom prst="rect">
            <a:avLst/>
          </a:prstGeom>
          <a:noFill/>
        </p:spPr>
        <p:txBody>
          <a:bodyPr wrap="none" rtlCol="0">
            <a:spAutoFit/>
          </a:bodyPr>
          <a:lstStyle/>
          <a:p>
            <a:r>
              <a:rPr kumimoji="1" lang="en-US" altLang="ja-JP" dirty="0"/>
              <a:t>Ubuntu Server A</a:t>
            </a:r>
            <a:endParaRPr kumimoji="1" lang="ja-JP" altLang="en-US" dirty="0"/>
          </a:p>
        </p:txBody>
      </p:sp>
      <p:sp>
        <p:nvSpPr>
          <p:cNvPr id="8" name="テキスト ボックス 7">
            <a:extLst>
              <a:ext uri="{FF2B5EF4-FFF2-40B4-BE49-F238E27FC236}">
                <a16:creationId xmlns:a16="http://schemas.microsoft.com/office/drawing/2014/main" id="{41F9A6B6-DF54-57B2-4FCE-5A1E8D2FC78F}"/>
              </a:ext>
            </a:extLst>
          </p:cNvPr>
          <p:cNvSpPr txBox="1"/>
          <p:nvPr/>
        </p:nvSpPr>
        <p:spPr>
          <a:xfrm>
            <a:off x="9823899" y="2158484"/>
            <a:ext cx="1943161" cy="369332"/>
          </a:xfrm>
          <a:prstGeom prst="rect">
            <a:avLst/>
          </a:prstGeom>
          <a:noFill/>
        </p:spPr>
        <p:txBody>
          <a:bodyPr wrap="none" rtlCol="0">
            <a:spAutoFit/>
          </a:bodyPr>
          <a:lstStyle/>
          <a:p>
            <a:r>
              <a:rPr kumimoji="1" lang="en-US" altLang="ja-JP" dirty="0"/>
              <a:t>Ubuntu Server B</a:t>
            </a:r>
            <a:endParaRPr kumimoji="1" lang="ja-JP" altLang="en-US" dirty="0"/>
          </a:p>
        </p:txBody>
      </p:sp>
      <p:sp>
        <p:nvSpPr>
          <p:cNvPr id="9" name="テキスト ボックス 8">
            <a:extLst>
              <a:ext uri="{FF2B5EF4-FFF2-40B4-BE49-F238E27FC236}">
                <a16:creationId xmlns:a16="http://schemas.microsoft.com/office/drawing/2014/main" id="{F926A50F-1E58-9FD5-2CEF-F2CBF11E6F8C}"/>
              </a:ext>
            </a:extLst>
          </p:cNvPr>
          <p:cNvSpPr txBox="1"/>
          <p:nvPr/>
        </p:nvSpPr>
        <p:spPr>
          <a:xfrm>
            <a:off x="205635" y="3196321"/>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a:t>Interface ens33</a:t>
            </a:r>
          </a:p>
          <a:p>
            <a:r>
              <a:rPr lang="en-US" altLang="ja-JP" dirty="0"/>
              <a:t>IP:192.168.10.101</a:t>
            </a:r>
            <a:endParaRPr kumimoji="1" lang="ja-JP" altLang="en-US" dirty="0"/>
          </a:p>
        </p:txBody>
      </p:sp>
      <p:sp>
        <p:nvSpPr>
          <p:cNvPr id="10" name="テキスト ボックス 9">
            <a:extLst>
              <a:ext uri="{FF2B5EF4-FFF2-40B4-BE49-F238E27FC236}">
                <a16:creationId xmlns:a16="http://schemas.microsoft.com/office/drawing/2014/main" id="{F1530086-7A9A-F9B9-06BE-E0BF2A2C61B6}"/>
              </a:ext>
            </a:extLst>
          </p:cNvPr>
          <p:cNvSpPr txBox="1"/>
          <p:nvPr/>
        </p:nvSpPr>
        <p:spPr>
          <a:xfrm>
            <a:off x="9407205" y="3137668"/>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a:t>Interface ens33</a:t>
            </a:r>
          </a:p>
          <a:p>
            <a:r>
              <a:rPr lang="en-US" altLang="ja-JP" dirty="0"/>
              <a:t>IP:192.168.10.102</a:t>
            </a:r>
            <a:endParaRPr kumimoji="1" lang="ja-JP" altLang="en-US" dirty="0"/>
          </a:p>
        </p:txBody>
      </p:sp>
      <p:sp>
        <p:nvSpPr>
          <p:cNvPr id="11" name="楕円 10">
            <a:extLst>
              <a:ext uri="{FF2B5EF4-FFF2-40B4-BE49-F238E27FC236}">
                <a16:creationId xmlns:a16="http://schemas.microsoft.com/office/drawing/2014/main" id="{5EC17B38-2824-C216-1BE1-950BB494C91D}"/>
              </a:ext>
            </a:extLst>
          </p:cNvPr>
          <p:cNvSpPr/>
          <p:nvPr/>
        </p:nvSpPr>
        <p:spPr>
          <a:xfrm>
            <a:off x="1540085" y="274829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CB460042-BB7E-47FA-BDB3-245E9C23D113}"/>
              </a:ext>
            </a:extLst>
          </p:cNvPr>
          <p:cNvSpPr/>
          <p:nvPr/>
        </p:nvSpPr>
        <p:spPr>
          <a:xfrm>
            <a:off x="10228131" y="273295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031DAD98-434C-E1AB-9CDA-95579E7DC151}"/>
              </a:ext>
            </a:extLst>
          </p:cNvPr>
          <p:cNvPicPr>
            <a:picLocks noChangeAspect="1"/>
          </p:cNvPicPr>
          <p:nvPr/>
        </p:nvPicPr>
        <p:blipFill>
          <a:blip r:embed="rId3"/>
          <a:stretch>
            <a:fillRect/>
          </a:stretch>
        </p:blipFill>
        <p:spPr>
          <a:xfrm>
            <a:off x="3227385" y="2370956"/>
            <a:ext cx="1705213" cy="724001"/>
          </a:xfrm>
          <a:prstGeom prst="rect">
            <a:avLst/>
          </a:prstGeom>
        </p:spPr>
      </p:pic>
      <p:pic>
        <p:nvPicPr>
          <p:cNvPr id="20" name="図 19">
            <a:extLst>
              <a:ext uri="{FF2B5EF4-FFF2-40B4-BE49-F238E27FC236}">
                <a16:creationId xmlns:a16="http://schemas.microsoft.com/office/drawing/2014/main" id="{13D0A219-EC7E-DF69-23C3-81E44290E78A}"/>
              </a:ext>
            </a:extLst>
          </p:cNvPr>
          <p:cNvPicPr>
            <a:picLocks noChangeAspect="1"/>
          </p:cNvPicPr>
          <p:nvPr/>
        </p:nvPicPr>
        <p:blipFill>
          <a:blip r:embed="rId3"/>
          <a:stretch>
            <a:fillRect/>
          </a:stretch>
        </p:blipFill>
        <p:spPr>
          <a:xfrm>
            <a:off x="6572484" y="2386296"/>
            <a:ext cx="1705213" cy="724001"/>
          </a:xfrm>
          <a:prstGeom prst="rect">
            <a:avLst/>
          </a:prstGeom>
        </p:spPr>
      </p:pic>
      <p:cxnSp>
        <p:nvCxnSpPr>
          <p:cNvPr id="22" name="直線コネクタ 21">
            <a:extLst>
              <a:ext uri="{FF2B5EF4-FFF2-40B4-BE49-F238E27FC236}">
                <a16:creationId xmlns:a16="http://schemas.microsoft.com/office/drawing/2014/main" id="{539061DB-29BB-D21D-406F-09E4824F228B}"/>
              </a:ext>
            </a:extLst>
          </p:cNvPr>
          <p:cNvCxnSpPr>
            <a:cxnSpLocks/>
            <a:stCxn id="29" idx="6"/>
          </p:cNvCxnSpPr>
          <p:nvPr/>
        </p:nvCxnSpPr>
        <p:spPr>
          <a:xfrm flipV="1">
            <a:off x="8277697" y="2836042"/>
            <a:ext cx="1950434" cy="6433"/>
          </a:xfrm>
          <a:prstGeom prst="line">
            <a:avLst/>
          </a:prstGeom>
        </p:spPr>
        <p:style>
          <a:lnRef idx="2">
            <a:schemeClr val="accent1"/>
          </a:lnRef>
          <a:fillRef idx="0">
            <a:schemeClr val="accent1"/>
          </a:fillRef>
          <a:effectRef idx="1">
            <a:schemeClr val="accent1"/>
          </a:effectRef>
          <a:fontRef idx="minor">
            <a:schemeClr val="tx1"/>
          </a:fontRef>
        </p:style>
      </p:cxnSp>
      <p:sp>
        <p:nvSpPr>
          <p:cNvPr id="25" name="楕円 24">
            <a:extLst>
              <a:ext uri="{FF2B5EF4-FFF2-40B4-BE49-F238E27FC236}">
                <a16:creationId xmlns:a16="http://schemas.microsoft.com/office/drawing/2014/main" id="{52B27D20-860A-3C70-030F-22B6281B72E4}"/>
              </a:ext>
            </a:extLst>
          </p:cNvPr>
          <p:cNvSpPr/>
          <p:nvPr/>
        </p:nvSpPr>
        <p:spPr>
          <a:xfrm>
            <a:off x="3227385" y="2712605"/>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9E120665-0BA2-FFA7-5F93-A24AE7FDCB93}"/>
              </a:ext>
            </a:extLst>
          </p:cNvPr>
          <p:cNvSpPr/>
          <p:nvPr/>
        </p:nvSpPr>
        <p:spPr>
          <a:xfrm>
            <a:off x="8109069" y="2754730"/>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0D2DF748-3745-1ACD-E8DF-B1816512E09E}"/>
              </a:ext>
            </a:extLst>
          </p:cNvPr>
          <p:cNvSpPr/>
          <p:nvPr/>
        </p:nvSpPr>
        <p:spPr>
          <a:xfrm>
            <a:off x="4782956" y="2754730"/>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BFEC7AD6-DA3E-5E29-6AE4-585AED9D9363}"/>
              </a:ext>
            </a:extLst>
          </p:cNvPr>
          <p:cNvSpPr/>
          <p:nvPr/>
        </p:nvSpPr>
        <p:spPr>
          <a:xfrm>
            <a:off x="6591470" y="2773072"/>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cxnSp>
        <p:nvCxnSpPr>
          <p:cNvPr id="35" name="直線コネクタ 34">
            <a:extLst>
              <a:ext uri="{FF2B5EF4-FFF2-40B4-BE49-F238E27FC236}">
                <a16:creationId xmlns:a16="http://schemas.microsoft.com/office/drawing/2014/main" id="{49EDA11C-63B7-CC89-5DFB-1F2392B34352}"/>
              </a:ext>
            </a:extLst>
          </p:cNvPr>
          <p:cNvCxnSpPr>
            <a:cxnSpLocks/>
            <a:stCxn id="32" idx="6"/>
            <a:endCxn id="34" idx="2"/>
          </p:cNvCxnSpPr>
          <p:nvPr/>
        </p:nvCxnSpPr>
        <p:spPr>
          <a:xfrm>
            <a:off x="4951584" y="2842475"/>
            <a:ext cx="1639886" cy="18342"/>
          </a:xfrm>
          <a:prstGeom prst="line">
            <a:avLst/>
          </a:prstGeom>
        </p:spPr>
        <p:style>
          <a:lnRef idx="2">
            <a:schemeClr val="accent2"/>
          </a:lnRef>
          <a:fillRef idx="0">
            <a:schemeClr val="accent2"/>
          </a:fillRef>
          <a:effectRef idx="1">
            <a:schemeClr val="accent2"/>
          </a:effectRef>
          <a:fontRef idx="minor">
            <a:schemeClr val="tx1"/>
          </a:fontRef>
        </p:style>
      </p:cxnSp>
      <p:sp>
        <p:nvSpPr>
          <p:cNvPr id="39" name="テキスト ボックス 38">
            <a:extLst>
              <a:ext uri="{FF2B5EF4-FFF2-40B4-BE49-F238E27FC236}">
                <a16:creationId xmlns:a16="http://schemas.microsoft.com/office/drawing/2014/main" id="{FDA5E765-2D48-517F-D800-5033E71E21C7}"/>
              </a:ext>
            </a:extLst>
          </p:cNvPr>
          <p:cNvSpPr txBox="1"/>
          <p:nvPr/>
        </p:nvSpPr>
        <p:spPr>
          <a:xfrm>
            <a:off x="3967429" y="1715326"/>
            <a:ext cx="1996059"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20</a:t>
            </a:r>
            <a:endParaRPr kumimoji="1" lang="en-US" altLang="ja-JP" dirty="0"/>
          </a:p>
          <a:p>
            <a:r>
              <a:rPr lang="en-US" altLang="ja-JP" dirty="0"/>
              <a:t>IP:192.168.20.1</a:t>
            </a:r>
            <a:endParaRPr kumimoji="1" lang="ja-JP" altLang="en-US" dirty="0"/>
          </a:p>
        </p:txBody>
      </p:sp>
      <p:sp>
        <p:nvSpPr>
          <p:cNvPr id="41" name="テキスト ボックス 40">
            <a:extLst>
              <a:ext uri="{FF2B5EF4-FFF2-40B4-BE49-F238E27FC236}">
                <a16:creationId xmlns:a16="http://schemas.microsoft.com/office/drawing/2014/main" id="{DD844B70-A685-547B-E471-37CA5FD1C752}"/>
              </a:ext>
            </a:extLst>
          </p:cNvPr>
          <p:cNvSpPr txBox="1"/>
          <p:nvPr/>
        </p:nvSpPr>
        <p:spPr>
          <a:xfrm>
            <a:off x="6319432" y="1690688"/>
            <a:ext cx="1996059"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20</a:t>
            </a:r>
            <a:endParaRPr kumimoji="1" lang="en-US" altLang="ja-JP" dirty="0"/>
          </a:p>
          <a:p>
            <a:r>
              <a:rPr lang="en-US" altLang="ja-JP" dirty="0"/>
              <a:t>IP:192.168.20.2</a:t>
            </a:r>
            <a:endParaRPr kumimoji="1" lang="ja-JP" altLang="en-US" dirty="0"/>
          </a:p>
        </p:txBody>
      </p:sp>
      <p:sp>
        <p:nvSpPr>
          <p:cNvPr id="43" name="テキスト ボックス 42">
            <a:extLst>
              <a:ext uri="{FF2B5EF4-FFF2-40B4-BE49-F238E27FC236}">
                <a16:creationId xmlns:a16="http://schemas.microsoft.com/office/drawing/2014/main" id="{CC8B3998-3547-B171-E906-B830B674848B}"/>
              </a:ext>
            </a:extLst>
          </p:cNvPr>
          <p:cNvSpPr txBox="1"/>
          <p:nvPr/>
        </p:nvSpPr>
        <p:spPr>
          <a:xfrm>
            <a:off x="2503264" y="3176154"/>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10</a:t>
            </a:r>
            <a:endParaRPr kumimoji="1" lang="en-US" altLang="ja-JP" dirty="0"/>
          </a:p>
          <a:p>
            <a:r>
              <a:rPr lang="en-US" altLang="ja-JP" dirty="0"/>
              <a:t>IP:192.168.10.254</a:t>
            </a:r>
            <a:endParaRPr kumimoji="1" lang="ja-JP" altLang="en-US" dirty="0"/>
          </a:p>
        </p:txBody>
      </p:sp>
      <p:sp>
        <p:nvSpPr>
          <p:cNvPr id="45" name="テキスト ボックス 44">
            <a:extLst>
              <a:ext uri="{FF2B5EF4-FFF2-40B4-BE49-F238E27FC236}">
                <a16:creationId xmlns:a16="http://schemas.microsoft.com/office/drawing/2014/main" id="{452087ED-18DC-3A99-1E54-D409FDBED28A}"/>
              </a:ext>
            </a:extLst>
          </p:cNvPr>
          <p:cNvSpPr txBox="1"/>
          <p:nvPr/>
        </p:nvSpPr>
        <p:spPr>
          <a:xfrm>
            <a:off x="7092533" y="3196321"/>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10</a:t>
            </a:r>
            <a:endParaRPr kumimoji="1" lang="en-US" altLang="ja-JP" dirty="0"/>
          </a:p>
          <a:p>
            <a:r>
              <a:rPr lang="en-US" altLang="ja-JP" dirty="0"/>
              <a:t>IP:192.168.10.254</a:t>
            </a:r>
            <a:endParaRPr kumimoji="1" lang="ja-JP" altLang="en-US" dirty="0"/>
          </a:p>
        </p:txBody>
      </p:sp>
      <p:sp>
        <p:nvSpPr>
          <p:cNvPr id="13" name="楕円 12">
            <a:extLst>
              <a:ext uri="{FF2B5EF4-FFF2-40B4-BE49-F238E27FC236}">
                <a16:creationId xmlns:a16="http://schemas.microsoft.com/office/drawing/2014/main" id="{4340C552-DF78-DB94-D93D-BE3F6260383B}"/>
              </a:ext>
            </a:extLst>
          </p:cNvPr>
          <p:cNvSpPr/>
          <p:nvPr/>
        </p:nvSpPr>
        <p:spPr>
          <a:xfrm>
            <a:off x="3984308" y="2800350"/>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920D7FC2-39EC-56A1-848B-A23549F7259C}"/>
              </a:ext>
            </a:extLst>
          </p:cNvPr>
          <p:cNvSpPr/>
          <p:nvPr/>
        </p:nvSpPr>
        <p:spPr>
          <a:xfrm>
            <a:off x="7398059" y="2778457"/>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32D7EB52-DE95-4BB8-763E-F02678E9A1F4}"/>
              </a:ext>
            </a:extLst>
          </p:cNvPr>
          <p:cNvSpPr txBox="1"/>
          <p:nvPr/>
        </p:nvSpPr>
        <p:spPr>
          <a:xfrm>
            <a:off x="2463394" y="4336749"/>
            <a:ext cx="2715808"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ja-JP" dirty="0"/>
              <a:t>Interface Loopback0 </a:t>
            </a:r>
          </a:p>
          <a:p>
            <a:r>
              <a:rPr lang="ja-JP" altLang="ja-JP" sz="1800" dirty="0"/>
              <a:t>10.255.255.1</a:t>
            </a:r>
            <a:r>
              <a:rPr lang="en-US" altLang="ja-JP" sz="1800" dirty="0"/>
              <a:t>/30</a:t>
            </a:r>
            <a:r>
              <a:rPr lang="ja-JP" altLang="ja-JP" sz="1800" dirty="0"/>
              <a:t> </a:t>
            </a:r>
            <a:endParaRPr lang="ja-JP" altLang="en-US" dirty="0"/>
          </a:p>
        </p:txBody>
      </p:sp>
      <p:sp>
        <p:nvSpPr>
          <p:cNvPr id="21" name="テキスト ボックス 20">
            <a:extLst>
              <a:ext uri="{FF2B5EF4-FFF2-40B4-BE49-F238E27FC236}">
                <a16:creationId xmlns:a16="http://schemas.microsoft.com/office/drawing/2014/main" id="{C75B9282-40CB-E20E-6362-DE134B4170CC}"/>
              </a:ext>
            </a:extLst>
          </p:cNvPr>
          <p:cNvSpPr txBox="1"/>
          <p:nvPr/>
        </p:nvSpPr>
        <p:spPr>
          <a:xfrm>
            <a:off x="6537106" y="4321219"/>
            <a:ext cx="2715808"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altLang="ja-JP" dirty="0"/>
              <a:t>Interface Loopback0 </a:t>
            </a:r>
          </a:p>
          <a:p>
            <a:r>
              <a:rPr lang="ja-JP" altLang="ja-JP" sz="1800" dirty="0"/>
              <a:t>10.255.255.</a:t>
            </a:r>
            <a:r>
              <a:rPr lang="en-US" altLang="ja-JP" sz="1800" dirty="0"/>
              <a:t>2/30</a:t>
            </a:r>
            <a:r>
              <a:rPr lang="ja-JP" altLang="ja-JP" sz="1800" dirty="0"/>
              <a:t> </a:t>
            </a:r>
            <a:endParaRPr lang="ja-JP" altLang="en-US" dirty="0"/>
          </a:p>
        </p:txBody>
      </p:sp>
      <p:sp>
        <p:nvSpPr>
          <p:cNvPr id="23" name="矢印: 右 22">
            <a:extLst>
              <a:ext uri="{FF2B5EF4-FFF2-40B4-BE49-F238E27FC236}">
                <a16:creationId xmlns:a16="http://schemas.microsoft.com/office/drawing/2014/main" id="{C9D4B213-B2CD-9451-4428-8BB4F2037EAE}"/>
              </a:ext>
            </a:extLst>
          </p:cNvPr>
          <p:cNvSpPr/>
          <p:nvPr/>
        </p:nvSpPr>
        <p:spPr>
          <a:xfrm>
            <a:off x="2166149" y="3384103"/>
            <a:ext cx="452222" cy="2493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矢印: 右 25">
            <a:extLst>
              <a:ext uri="{FF2B5EF4-FFF2-40B4-BE49-F238E27FC236}">
                <a16:creationId xmlns:a16="http://schemas.microsoft.com/office/drawing/2014/main" id="{25E87FFC-D3B7-0475-0E70-69019AA5F2E2}"/>
              </a:ext>
            </a:extLst>
          </p:cNvPr>
          <p:cNvSpPr/>
          <p:nvPr/>
        </p:nvSpPr>
        <p:spPr>
          <a:xfrm rot="5400000">
            <a:off x="3532552" y="3927975"/>
            <a:ext cx="452222" cy="2493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右 27">
            <a:extLst>
              <a:ext uri="{FF2B5EF4-FFF2-40B4-BE49-F238E27FC236}">
                <a16:creationId xmlns:a16="http://schemas.microsoft.com/office/drawing/2014/main" id="{0439EB39-3DDE-9BB5-7489-808CC00BA429}"/>
              </a:ext>
            </a:extLst>
          </p:cNvPr>
          <p:cNvSpPr/>
          <p:nvPr/>
        </p:nvSpPr>
        <p:spPr>
          <a:xfrm>
            <a:off x="4998196" y="4553323"/>
            <a:ext cx="1574288" cy="2493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矢印: 右 30">
            <a:extLst>
              <a:ext uri="{FF2B5EF4-FFF2-40B4-BE49-F238E27FC236}">
                <a16:creationId xmlns:a16="http://schemas.microsoft.com/office/drawing/2014/main" id="{29BA9AAF-00C0-339D-C090-9E401CFC5CD5}"/>
              </a:ext>
            </a:extLst>
          </p:cNvPr>
          <p:cNvSpPr/>
          <p:nvPr/>
        </p:nvSpPr>
        <p:spPr>
          <a:xfrm rot="16200000">
            <a:off x="7882958" y="3944072"/>
            <a:ext cx="452222" cy="2493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矢印: 右 35">
            <a:extLst>
              <a:ext uri="{FF2B5EF4-FFF2-40B4-BE49-F238E27FC236}">
                <a16:creationId xmlns:a16="http://schemas.microsoft.com/office/drawing/2014/main" id="{D9BEAE1F-1EFA-81EB-AB4C-D593218D9E52}"/>
              </a:ext>
            </a:extLst>
          </p:cNvPr>
          <p:cNvSpPr/>
          <p:nvPr/>
        </p:nvSpPr>
        <p:spPr>
          <a:xfrm>
            <a:off x="9026803" y="3347931"/>
            <a:ext cx="452222" cy="2493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四角形: 角を丸くする 36">
            <a:extLst>
              <a:ext uri="{FF2B5EF4-FFF2-40B4-BE49-F238E27FC236}">
                <a16:creationId xmlns:a16="http://schemas.microsoft.com/office/drawing/2014/main" id="{CC3C5E34-17FD-8AE6-8F79-2B998A0DFC8A}"/>
              </a:ext>
            </a:extLst>
          </p:cNvPr>
          <p:cNvSpPr/>
          <p:nvPr/>
        </p:nvSpPr>
        <p:spPr>
          <a:xfrm>
            <a:off x="2135972" y="4052666"/>
            <a:ext cx="8092159" cy="1591014"/>
          </a:xfrm>
          <a:prstGeom prst="roundRect">
            <a:avLst/>
          </a:prstGeom>
          <a:noFill/>
          <a:ln>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BCEADC7-CFFB-C5F4-2BD5-CA355CC9D8C4}"/>
              </a:ext>
            </a:extLst>
          </p:cNvPr>
          <p:cNvSpPr txBox="1"/>
          <p:nvPr/>
        </p:nvSpPr>
        <p:spPr>
          <a:xfrm>
            <a:off x="4993825" y="5251633"/>
            <a:ext cx="1806905" cy="369332"/>
          </a:xfrm>
          <a:prstGeom prst="rect">
            <a:avLst/>
          </a:prstGeom>
          <a:noFill/>
        </p:spPr>
        <p:txBody>
          <a:bodyPr wrap="none" rtlCol="0">
            <a:spAutoFit/>
          </a:bodyPr>
          <a:lstStyle/>
          <a:p>
            <a:r>
              <a:rPr lang="en-US" altLang="ja-JP" dirty="0" err="1">
                <a:solidFill>
                  <a:srgbClr val="FF0000"/>
                </a:solidFill>
              </a:rPr>
              <a:t>VXLan</a:t>
            </a:r>
            <a:r>
              <a:rPr lang="ja-JP" altLang="en-US" dirty="0">
                <a:solidFill>
                  <a:srgbClr val="FF0000"/>
                </a:solidFill>
              </a:rPr>
              <a:t>トンネル</a:t>
            </a:r>
            <a:endParaRPr kumimoji="1" lang="ja-JP" altLang="en-US" dirty="0">
              <a:solidFill>
                <a:srgbClr val="FF0000"/>
              </a:solidFill>
            </a:endParaRPr>
          </a:p>
        </p:txBody>
      </p:sp>
    </p:spTree>
    <p:extLst>
      <p:ext uri="{BB962C8B-B14F-4D97-AF65-F5344CB8AC3E}">
        <p14:creationId xmlns:p14="http://schemas.microsoft.com/office/powerpoint/2010/main" val="1708009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AC6097-9B33-E285-F034-A7CDE73F8882}"/>
              </a:ext>
            </a:extLst>
          </p:cNvPr>
          <p:cNvSpPr>
            <a:spLocks noGrp="1"/>
          </p:cNvSpPr>
          <p:nvPr>
            <p:ph type="title"/>
          </p:nvPr>
        </p:nvSpPr>
        <p:spPr>
          <a:xfrm>
            <a:off x="645531" y="371925"/>
            <a:ext cx="10900937" cy="1325563"/>
          </a:xfrm>
        </p:spPr>
        <p:txBody>
          <a:bodyPr/>
          <a:lstStyle/>
          <a:p>
            <a:r>
              <a:rPr kumimoji="1" lang="en-US" altLang="ja-JP" dirty="0"/>
              <a:t>Step3</a:t>
            </a:r>
            <a:r>
              <a:rPr kumimoji="1" lang="ja-JP" altLang="en-US" dirty="0"/>
              <a:t>　スイッチを使った</a:t>
            </a:r>
            <a:r>
              <a:rPr kumimoji="1" lang="en-US" altLang="ja-JP" dirty="0"/>
              <a:t>VXLAN</a:t>
            </a:r>
            <a:r>
              <a:rPr kumimoji="1" lang="ja-JP" altLang="en-US" dirty="0"/>
              <a:t>設定詳細</a:t>
            </a:r>
          </a:p>
        </p:txBody>
      </p:sp>
      <p:pic>
        <p:nvPicPr>
          <p:cNvPr id="4" name="グラフィックス 3" descr="コンピューター 単色塗りつぶし">
            <a:extLst>
              <a:ext uri="{FF2B5EF4-FFF2-40B4-BE49-F238E27FC236}">
                <a16:creationId xmlns:a16="http://schemas.microsoft.com/office/drawing/2014/main" id="{075CF6A5-1AB2-8756-4A00-F00E5AC7ACD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49344" y="2343150"/>
            <a:ext cx="914400" cy="914400"/>
          </a:xfrm>
          <a:prstGeom prst="rect">
            <a:avLst/>
          </a:prstGeom>
        </p:spPr>
      </p:pic>
      <p:pic>
        <p:nvPicPr>
          <p:cNvPr id="5" name="グラフィックス 4" descr="コンピューター 単色塗りつぶし">
            <a:extLst>
              <a:ext uri="{FF2B5EF4-FFF2-40B4-BE49-F238E27FC236}">
                <a16:creationId xmlns:a16="http://schemas.microsoft.com/office/drawing/2014/main" id="{0CDA3E8A-F9DF-A337-5160-7A8BE8D6F8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3100" y="2343150"/>
            <a:ext cx="914400" cy="914400"/>
          </a:xfrm>
          <a:prstGeom prst="rect">
            <a:avLst/>
          </a:prstGeom>
        </p:spPr>
      </p:pic>
      <p:cxnSp>
        <p:nvCxnSpPr>
          <p:cNvPr id="6" name="直線コネクタ 5">
            <a:extLst>
              <a:ext uri="{FF2B5EF4-FFF2-40B4-BE49-F238E27FC236}">
                <a16:creationId xmlns:a16="http://schemas.microsoft.com/office/drawing/2014/main" id="{CE19C053-C115-0423-42C5-AA5ACB957B64}"/>
              </a:ext>
            </a:extLst>
          </p:cNvPr>
          <p:cNvCxnSpPr>
            <a:cxnSpLocks/>
            <a:stCxn id="11" idx="6"/>
            <a:endCxn id="25" idx="2"/>
          </p:cNvCxnSpPr>
          <p:nvPr/>
        </p:nvCxnSpPr>
        <p:spPr>
          <a:xfrm flipV="1">
            <a:off x="1708713" y="2800350"/>
            <a:ext cx="1518672" cy="35692"/>
          </a:xfrm>
          <a:prstGeom prst="line">
            <a:avLst/>
          </a:prstGeom>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73C89F26-8A8A-E354-BC8F-A95CEEDCD0E1}"/>
              </a:ext>
            </a:extLst>
          </p:cNvPr>
          <p:cNvSpPr txBox="1"/>
          <p:nvPr/>
        </p:nvSpPr>
        <p:spPr>
          <a:xfrm>
            <a:off x="200827" y="2147888"/>
            <a:ext cx="1935145" cy="369332"/>
          </a:xfrm>
          <a:prstGeom prst="rect">
            <a:avLst/>
          </a:prstGeom>
          <a:noFill/>
        </p:spPr>
        <p:txBody>
          <a:bodyPr wrap="none" rtlCol="0">
            <a:spAutoFit/>
          </a:bodyPr>
          <a:lstStyle/>
          <a:p>
            <a:r>
              <a:rPr kumimoji="1" lang="en-US" altLang="ja-JP" dirty="0"/>
              <a:t>Ubuntu Server A</a:t>
            </a:r>
            <a:endParaRPr kumimoji="1" lang="ja-JP" altLang="en-US" dirty="0"/>
          </a:p>
        </p:txBody>
      </p:sp>
      <p:sp>
        <p:nvSpPr>
          <p:cNvPr id="8" name="テキスト ボックス 7">
            <a:extLst>
              <a:ext uri="{FF2B5EF4-FFF2-40B4-BE49-F238E27FC236}">
                <a16:creationId xmlns:a16="http://schemas.microsoft.com/office/drawing/2014/main" id="{3BD75990-5EE4-A75C-30FC-E994DBA23F3E}"/>
              </a:ext>
            </a:extLst>
          </p:cNvPr>
          <p:cNvSpPr txBox="1"/>
          <p:nvPr/>
        </p:nvSpPr>
        <p:spPr>
          <a:xfrm>
            <a:off x="9823899" y="2158484"/>
            <a:ext cx="1943161" cy="369332"/>
          </a:xfrm>
          <a:prstGeom prst="rect">
            <a:avLst/>
          </a:prstGeom>
          <a:noFill/>
        </p:spPr>
        <p:txBody>
          <a:bodyPr wrap="none" rtlCol="0">
            <a:spAutoFit/>
          </a:bodyPr>
          <a:lstStyle/>
          <a:p>
            <a:r>
              <a:rPr kumimoji="1" lang="en-US" altLang="ja-JP" dirty="0"/>
              <a:t>Ubuntu Server B</a:t>
            </a:r>
            <a:endParaRPr kumimoji="1" lang="ja-JP" altLang="en-US" dirty="0"/>
          </a:p>
        </p:txBody>
      </p:sp>
      <p:sp>
        <p:nvSpPr>
          <p:cNvPr id="9" name="テキスト ボックス 8">
            <a:extLst>
              <a:ext uri="{FF2B5EF4-FFF2-40B4-BE49-F238E27FC236}">
                <a16:creationId xmlns:a16="http://schemas.microsoft.com/office/drawing/2014/main" id="{39DC5815-8188-AA98-C409-FBEAA4A4D948}"/>
              </a:ext>
            </a:extLst>
          </p:cNvPr>
          <p:cNvSpPr txBox="1"/>
          <p:nvPr/>
        </p:nvSpPr>
        <p:spPr>
          <a:xfrm>
            <a:off x="205635" y="3196321"/>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a:t>Interface ens33</a:t>
            </a:r>
          </a:p>
          <a:p>
            <a:r>
              <a:rPr lang="en-US" altLang="ja-JP" dirty="0"/>
              <a:t>IP:192.168.10.101</a:t>
            </a:r>
            <a:endParaRPr kumimoji="1" lang="ja-JP" altLang="en-US" dirty="0"/>
          </a:p>
        </p:txBody>
      </p:sp>
      <p:sp>
        <p:nvSpPr>
          <p:cNvPr id="10" name="テキスト ボックス 9">
            <a:extLst>
              <a:ext uri="{FF2B5EF4-FFF2-40B4-BE49-F238E27FC236}">
                <a16:creationId xmlns:a16="http://schemas.microsoft.com/office/drawing/2014/main" id="{39684608-B55F-CFC1-439B-48433ADD2B4C}"/>
              </a:ext>
            </a:extLst>
          </p:cNvPr>
          <p:cNvSpPr txBox="1"/>
          <p:nvPr/>
        </p:nvSpPr>
        <p:spPr>
          <a:xfrm>
            <a:off x="9407205" y="3137668"/>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a:t>Interface ens33</a:t>
            </a:r>
          </a:p>
          <a:p>
            <a:r>
              <a:rPr lang="en-US" altLang="ja-JP" dirty="0"/>
              <a:t>IP:192.168.10.102</a:t>
            </a:r>
            <a:endParaRPr kumimoji="1" lang="ja-JP" altLang="en-US" dirty="0"/>
          </a:p>
        </p:txBody>
      </p:sp>
      <p:sp>
        <p:nvSpPr>
          <p:cNvPr id="11" name="楕円 10">
            <a:extLst>
              <a:ext uri="{FF2B5EF4-FFF2-40B4-BE49-F238E27FC236}">
                <a16:creationId xmlns:a16="http://schemas.microsoft.com/office/drawing/2014/main" id="{5AEDA480-22E3-9458-A056-90379E2CDA70}"/>
              </a:ext>
            </a:extLst>
          </p:cNvPr>
          <p:cNvSpPr/>
          <p:nvPr/>
        </p:nvSpPr>
        <p:spPr>
          <a:xfrm>
            <a:off x="1540085" y="274829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72FF2A5-1387-61EC-3B38-43CFF90313FB}"/>
              </a:ext>
            </a:extLst>
          </p:cNvPr>
          <p:cNvSpPr/>
          <p:nvPr/>
        </p:nvSpPr>
        <p:spPr>
          <a:xfrm>
            <a:off x="10228131" y="273295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C3034E7B-AA10-A6E7-2081-1C7B37B57EA3}"/>
              </a:ext>
            </a:extLst>
          </p:cNvPr>
          <p:cNvPicPr>
            <a:picLocks noChangeAspect="1"/>
          </p:cNvPicPr>
          <p:nvPr/>
        </p:nvPicPr>
        <p:blipFill>
          <a:blip r:embed="rId3"/>
          <a:stretch>
            <a:fillRect/>
          </a:stretch>
        </p:blipFill>
        <p:spPr>
          <a:xfrm>
            <a:off x="3227385" y="2370956"/>
            <a:ext cx="1705213" cy="724001"/>
          </a:xfrm>
          <a:prstGeom prst="rect">
            <a:avLst/>
          </a:prstGeom>
        </p:spPr>
      </p:pic>
      <p:pic>
        <p:nvPicPr>
          <p:cNvPr id="20" name="図 19">
            <a:extLst>
              <a:ext uri="{FF2B5EF4-FFF2-40B4-BE49-F238E27FC236}">
                <a16:creationId xmlns:a16="http://schemas.microsoft.com/office/drawing/2014/main" id="{A291533D-1C8E-E297-FB8A-56F72533F980}"/>
              </a:ext>
            </a:extLst>
          </p:cNvPr>
          <p:cNvPicPr>
            <a:picLocks noChangeAspect="1"/>
          </p:cNvPicPr>
          <p:nvPr/>
        </p:nvPicPr>
        <p:blipFill>
          <a:blip r:embed="rId3"/>
          <a:stretch>
            <a:fillRect/>
          </a:stretch>
        </p:blipFill>
        <p:spPr>
          <a:xfrm>
            <a:off x="6572484" y="2386296"/>
            <a:ext cx="1705213" cy="724001"/>
          </a:xfrm>
          <a:prstGeom prst="rect">
            <a:avLst/>
          </a:prstGeom>
        </p:spPr>
      </p:pic>
      <p:cxnSp>
        <p:nvCxnSpPr>
          <p:cNvPr id="22" name="直線コネクタ 21">
            <a:extLst>
              <a:ext uri="{FF2B5EF4-FFF2-40B4-BE49-F238E27FC236}">
                <a16:creationId xmlns:a16="http://schemas.microsoft.com/office/drawing/2014/main" id="{463421C4-3920-785D-0BAE-C3805DC3B93F}"/>
              </a:ext>
            </a:extLst>
          </p:cNvPr>
          <p:cNvCxnSpPr>
            <a:cxnSpLocks/>
            <a:stCxn id="29" idx="6"/>
          </p:cNvCxnSpPr>
          <p:nvPr/>
        </p:nvCxnSpPr>
        <p:spPr>
          <a:xfrm flipV="1">
            <a:off x="8277697" y="2836042"/>
            <a:ext cx="1950434" cy="6433"/>
          </a:xfrm>
          <a:prstGeom prst="line">
            <a:avLst/>
          </a:prstGeom>
        </p:spPr>
        <p:style>
          <a:lnRef idx="2">
            <a:schemeClr val="accent1"/>
          </a:lnRef>
          <a:fillRef idx="0">
            <a:schemeClr val="accent1"/>
          </a:fillRef>
          <a:effectRef idx="1">
            <a:schemeClr val="accent1"/>
          </a:effectRef>
          <a:fontRef idx="minor">
            <a:schemeClr val="tx1"/>
          </a:fontRef>
        </p:style>
      </p:cxnSp>
      <p:sp>
        <p:nvSpPr>
          <p:cNvPr id="25" name="楕円 24">
            <a:extLst>
              <a:ext uri="{FF2B5EF4-FFF2-40B4-BE49-F238E27FC236}">
                <a16:creationId xmlns:a16="http://schemas.microsoft.com/office/drawing/2014/main" id="{8CE3D4F2-E55B-F430-53D6-7DE7B31E5BB5}"/>
              </a:ext>
            </a:extLst>
          </p:cNvPr>
          <p:cNvSpPr/>
          <p:nvPr/>
        </p:nvSpPr>
        <p:spPr>
          <a:xfrm>
            <a:off x="3227385" y="2712605"/>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1486A233-FC23-2608-F875-EA685C434F79}"/>
              </a:ext>
            </a:extLst>
          </p:cNvPr>
          <p:cNvSpPr/>
          <p:nvPr/>
        </p:nvSpPr>
        <p:spPr>
          <a:xfrm>
            <a:off x="8109069" y="2754730"/>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E384E576-72FF-39EF-89A9-5D00DF5F9F78}"/>
              </a:ext>
            </a:extLst>
          </p:cNvPr>
          <p:cNvSpPr/>
          <p:nvPr/>
        </p:nvSpPr>
        <p:spPr>
          <a:xfrm>
            <a:off x="4782956" y="2754730"/>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C13FAF9C-DB62-F136-ABBD-A4BF853E2CDE}"/>
              </a:ext>
            </a:extLst>
          </p:cNvPr>
          <p:cNvSpPr/>
          <p:nvPr/>
        </p:nvSpPr>
        <p:spPr>
          <a:xfrm>
            <a:off x="6591470" y="2773072"/>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cxnSp>
        <p:nvCxnSpPr>
          <p:cNvPr id="35" name="直線コネクタ 34">
            <a:extLst>
              <a:ext uri="{FF2B5EF4-FFF2-40B4-BE49-F238E27FC236}">
                <a16:creationId xmlns:a16="http://schemas.microsoft.com/office/drawing/2014/main" id="{B5BDF129-1F17-F74D-FE3B-130560361E80}"/>
              </a:ext>
            </a:extLst>
          </p:cNvPr>
          <p:cNvCxnSpPr>
            <a:cxnSpLocks/>
            <a:stCxn id="32" idx="6"/>
            <a:endCxn id="34" idx="2"/>
          </p:cNvCxnSpPr>
          <p:nvPr/>
        </p:nvCxnSpPr>
        <p:spPr>
          <a:xfrm>
            <a:off x="4951584" y="2842475"/>
            <a:ext cx="1639886" cy="18342"/>
          </a:xfrm>
          <a:prstGeom prst="line">
            <a:avLst/>
          </a:prstGeom>
        </p:spPr>
        <p:style>
          <a:lnRef idx="2">
            <a:schemeClr val="accent2"/>
          </a:lnRef>
          <a:fillRef idx="0">
            <a:schemeClr val="accent2"/>
          </a:fillRef>
          <a:effectRef idx="1">
            <a:schemeClr val="accent2"/>
          </a:effectRef>
          <a:fontRef idx="minor">
            <a:schemeClr val="tx1"/>
          </a:fontRef>
        </p:style>
      </p:cxnSp>
      <p:sp>
        <p:nvSpPr>
          <p:cNvPr id="39" name="テキスト ボックス 38">
            <a:extLst>
              <a:ext uri="{FF2B5EF4-FFF2-40B4-BE49-F238E27FC236}">
                <a16:creationId xmlns:a16="http://schemas.microsoft.com/office/drawing/2014/main" id="{33B1F296-0EA0-42BA-BE0A-876D6F75C4E3}"/>
              </a:ext>
            </a:extLst>
          </p:cNvPr>
          <p:cNvSpPr txBox="1"/>
          <p:nvPr/>
        </p:nvSpPr>
        <p:spPr>
          <a:xfrm>
            <a:off x="3967429" y="1715326"/>
            <a:ext cx="1996059"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20</a:t>
            </a:r>
            <a:endParaRPr kumimoji="1" lang="en-US" altLang="ja-JP" dirty="0"/>
          </a:p>
          <a:p>
            <a:r>
              <a:rPr lang="en-US" altLang="ja-JP" dirty="0"/>
              <a:t>IP:192.168.20.1</a:t>
            </a:r>
            <a:endParaRPr kumimoji="1" lang="ja-JP" altLang="en-US" dirty="0"/>
          </a:p>
        </p:txBody>
      </p:sp>
      <p:sp>
        <p:nvSpPr>
          <p:cNvPr id="41" name="テキスト ボックス 40">
            <a:extLst>
              <a:ext uri="{FF2B5EF4-FFF2-40B4-BE49-F238E27FC236}">
                <a16:creationId xmlns:a16="http://schemas.microsoft.com/office/drawing/2014/main" id="{0DD0DF9A-BF1A-0E56-F258-2F68EB77BC8F}"/>
              </a:ext>
            </a:extLst>
          </p:cNvPr>
          <p:cNvSpPr txBox="1"/>
          <p:nvPr/>
        </p:nvSpPr>
        <p:spPr>
          <a:xfrm>
            <a:off x="6319432" y="1690688"/>
            <a:ext cx="1996059"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20</a:t>
            </a:r>
            <a:endParaRPr kumimoji="1" lang="en-US" altLang="ja-JP" dirty="0"/>
          </a:p>
          <a:p>
            <a:r>
              <a:rPr lang="en-US" altLang="ja-JP" dirty="0"/>
              <a:t>IP:192.168.20.2</a:t>
            </a:r>
            <a:endParaRPr kumimoji="1" lang="ja-JP" altLang="en-US" dirty="0"/>
          </a:p>
        </p:txBody>
      </p:sp>
      <p:sp>
        <p:nvSpPr>
          <p:cNvPr id="43" name="テキスト ボックス 42">
            <a:extLst>
              <a:ext uri="{FF2B5EF4-FFF2-40B4-BE49-F238E27FC236}">
                <a16:creationId xmlns:a16="http://schemas.microsoft.com/office/drawing/2014/main" id="{38447C67-BCFB-2771-AF46-4695AE50BB1C}"/>
              </a:ext>
            </a:extLst>
          </p:cNvPr>
          <p:cNvSpPr txBox="1"/>
          <p:nvPr/>
        </p:nvSpPr>
        <p:spPr>
          <a:xfrm>
            <a:off x="2503264" y="3176154"/>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10</a:t>
            </a:r>
            <a:endParaRPr kumimoji="1" lang="en-US" altLang="ja-JP" dirty="0"/>
          </a:p>
          <a:p>
            <a:r>
              <a:rPr lang="en-US" altLang="ja-JP" dirty="0"/>
              <a:t>IP:192.168.10.254</a:t>
            </a:r>
            <a:endParaRPr kumimoji="1" lang="ja-JP" altLang="en-US" dirty="0"/>
          </a:p>
        </p:txBody>
      </p:sp>
      <p:sp>
        <p:nvSpPr>
          <p:cNvPr id="45" name="テキスト ボックス 44">
            <a:extLst>
              <a:ext uri="{FF2B5EF4-FFF2-40B4-BE49-F238E27FC236}">
                <a16:creationId xmlns:a16="http://schemas.microsoft.com/office/drawing/2014/main" id="{05F53D29-5F60-DE92-688A-7F3610A8C7BB}"/>
              </a:ext>
            </a:extLst>
          </p:cNvPr>
          <p:cNvSpPr txBox="1"/>
          <p:nvPr/>
        </p:nvSpPr>
        <p:spPr>
          <a:xfrm>
            <a:off x="7092533" y="3196321"/>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10</a:t>
            </a:r>
            <a:endParaRPr kumimoji="1" lang="en-US" altLang="ja-JP" dirty="0"/>
          </a:p>
          <a:p>
            <a:r>
              <a:rPr lang="en-US" altLang="ja-JP" dirty="0"/>
              <a:t>IP:192.168.10.254</a:t>
            </a:r>
            <a:endParaRPr kumimoji="1" lang="ja-JP" altLang="en-US" dirty="0"/>
          </a:p>
        </p:txBody>
      </p:sp>
      <p:sp>
        <p:nvSpPr>
          <p:cNvPr id="46" name="テキスト ボックス 45">
            <a:extLst>
              <a:ext uri="{FF2B5EF4-FFF2-40B4-BE49-F238E27FC236}">
                <a16:creationId xmlns:a16="http://schemas.microsoft.com/office/drawing/2014/main" id="{D4837D56-2032-2BC7-79EF-1CA0D36C0C5D}"/>
              </a:ext>
            </a:extLst>
          </p:cNvPr>
          <p:cNvSpPr txBox="1"/>
          <p:nvPr/>
        </p:nvSpPr>
        <p:spPr>
          <a:xfrm>
            <a:off x="452863" y="3997757"/>
            <a:ext cx="4174541" cy="1754326"/>
          </a:xfrm>
          <a:prstGeom prst="rect">
            <a:avLst/>
          </a:prstGeom>
          <a:noFill/>
        </p:spPr>
        <p:txBody>
          <a:bodyPr wrap="none" rtlCol="0">
            <a:spAutoFit/>
          </a:bodyPr>
          <a:lstStyle/>
          <a:p>
            <a:r>
              <a:rPr lang="ja-JP" altLang="en-US" dirty="0"/>
              <a:t>■</a:t>
            </a:r>
            <a:r>
              <a:rPr lang="en-US" altLang="ja-JP" dirty="0" err="1"/>
              <a:t>LoopBack</a:t>
            </a:r>
            <a:r>
              <a:rPr lang="ja-JP" altLang="en-US" dirty="0"/>
              <a:t>の設定</a:t>
            </a:r>
            <a:endParaRPr lang="en-US" altLang="ja-JP" dirty="0"/>
          </a:p>
          <a:p>
            <a:r>
              <a:rPr lang="en-US" altLang="ja-JP" dirty="0"/>
              <a:t>interface l</a:t>
            </a:r>
            <a:r>
              <a:rPr lang="ja-JP" altLang="ja-JP" dirty="0"/>
              <a:t>oopback</a:t>
            </a:r>
            <a:r>
              <a:rPr lang="en-US" altLang="ja-JP" dirty="0"/>
              <a:t> </a:t>
            </a:r>
            <a:r>
              <a:rPr lang="ja-JP" altLang="ja-JP" dirty="0"/>
              <a:t>0</a:t>
            </a:r>
            <a:r>
              <a:rPr lang="ja-JP" altLang="en-US" dirty="0"/>
              <a:t>　</a:t>
            </a:r>
            <a:endParaRPr lang="en-US" altLang="ja-JP" dirty="0"/>
          </a:p>
          <a:p>
            <a:r>
              <a:rPr lang="en-US" altLang="ja-JP" dirty="0" err="1"/>
              <a:t>ip</a:t>
            </a:r>
            <a:r>
              <a:rPr lang="en-US" altLang="ja-JP" dirty="0"/>
              <a:t> address </a:t>
            </a:r>
            <a:r>
              <a:rPr lang="ja-JP" altLang="ja-JP" dirty="0"/>
              <a:t>10.255.255.1</a:t>
            </a:r>
            <a:r>
              <a:rPr lang="en-US" altLang="ja-JP" dirty="0"/>
              <a:t>/30</a:t>
            </a:r>
            <a:r>
              <a:rPr lang="ja-JP" altLang="ja-JP" dirty="0"/>
              <a:t> </a:t>
            </a:r>
            <a:endParaRPr lang="en-US" altLang="ja-JP" dirty="0"/>
          </a:p>
          <a:p>
            <a:endParaRPr kumimoji="1" lang="en-US" altLang="ja-JP" dirty="0"/>
          </a:p>
          <a:p>
            <a:r>
              <a:rPr lang="ja-JP" altLang="en-US" dirty="0"/>
              <a:t>■</a:t>
            </a:r>
            <a:r>
              <a:rPr lang="en-US" altLang="ja-JP" dirty="0"/>
              <a:t>Routing</a:t>
            </a:r>
            <a:r>
              <a:rPr lang="ja-JP" altLang="en-US" dirty="0"/>
              <a:t>設定</a:t>
            </a:r>
            <a:endParaRPr lang="en-US" altLang="ja-JP" dirty="0"/>
          </a:p>
          <a:p>
            <a:r>
              <a:rPr lang="en-US" altLang="ja-JP" dirty="0" err="1"/>
              <a:t>ip</a:t>
            </a:r>
            <a:r>
              <a:rPr lang="en-US" altLang="ja-JP" dirty="0"/>
              <a:t> route 10.255.255.0/30 192.168.20.2</a:t>
            </a:r>
          </a:p>
        </p:txBody>
      </p:sp>
      <p:sp>
        <p:nvSpPr>
          <p:cNvPr id="48" name="テキスト ボックス 47">
            <a:extLst>
              <a:ext uri="{FF2B5EF4-FFF2-40B4-BE49-F238E27FC236}">
                <a16:creationId xmlns:a16="http://schemas.microsoft.com/office/drawing/2014/main" id="{1AFE3629-9387-DD3D-9277-5694A8302578}"/>
              </a:ext>
            </a:extLst>
          </p:cNvPr>
          <p:cNvSpPr txBox="1"/>
          <p:nvPr/>
        </p:nvSpPr>
        <p:spPr>
          <a:xfrm>
            <a:off x="5298318" y="3938918"/>
            <a:ext cx="2715808" cy="2031325"/>
          </a:xfrm>
          <a:prstGeom prst="rect">
            <a:avLst/>
          </a:prstGeom>
          <a:noFill/>
        </p:spPr>
        <p:txBody>
          <a:bodyPr wrap="none" rtlCol="0">
            <a:spAutoFit/>
          </a:bodyPr>
          <a:lstStyle/>
          <a:p>
            <a:r>
              <a:rPr lang="ja-JP" altLang="en-US" dirty="0"/>
              <a:t>■</a:t>
            </a:r>
            <a:r>
              <a:rPr lang="en-US" altLang="ja-JP" dirty="0"/>
              <a:t>VXLAN</a:t>
            </a:r>
            <a:r>
              <a:rPr lang="ja-JP" altLang="en-US" dirty="0"/>
              <a:t>（</a:t>
            </a:r>
            <a:r>
              <a:rPr lang="en-US" altLang="ja-JP" dirty="0"/>
              <a:t>VTEP</a:t>
            </a:r>
            <a:r>
              <a:rPr lang="ja-JP" altLang="en-US" dirty="0"/>
              <a:t>）</a:t>
            </a:r>
            <a:endParaRPr lang="en-US" altLang="ja-JP" dirty="0"/>
          </a:p>
          <a:p>
            <a:r>
              <a:rPr lang="en-US" altLang="ja-JP" dirty="0"/>
              <a:t>interface</a:t>
            </a:r>
            <a:r>
              <a:rPr lang="ja-JP" altLang="en-US" dirty="0"/>
              <a:t> </a:t>
            </a:r>
            <a:r>
              <a:rPr lang="en-US" altLang="ja-JP" dirty="0" err="1"/>
              <a:t>vxlan</a:t>
            </a:r>
            <a:r>
              <a:rPr lang="ja-JP" altLang="en-US" dirty="0"/>
              <a:t> </a:t>
            </a:r>
            <a:r>
              <a:rPr lang="en-US" altLang="ja-JP" dirty="0"/>
              <a:t>1</a:t>
            </a:r>
          </a:p>
          <a:p>
            <a:r>
              <a:rPr lang="en-US" altLang="ja-JP" dirty="0"/>
              <a:t>source </a:t>
            </a:r>
            <a:r>
              <a:rPr lang="en-US" altLang="ja-JP" dirty="0" err="1"/>
              <a:t>ip</a:t>
            </a:r>
            <a:r>
              <a:rPr lang="en-US" altLang="ja-JP" dirty="0"/>
              <a:t> 10.255.255.1</a:t>
            </a:r>
          </a:p>
          <a:p>
            <a:r>
              <a:rPr lang="en-US" altLang="ja-JP" dirty="0"/>
              <a:t>no shutdown</a:t>
            </a:r>
          </a:p>
          <a:p>
            <a:r>
              <a:rPr lang="en-US" altLang="ja-JP" dirty="0" err="1"/>
              <a:t>vni</a:t>
            </a:r>
            <a:r>
              <a:rPr lang="en-US" altLang="ja-JP" dirty="0"/>
              <a:t> 1010</a:t>
            </a:r>
          </a:p>
          <a:p>
            <a:r>
              <a:rPr lang="en-US" altLang="ja-JP" dirty="0"/>
              <a:t>-</a:t>
            </a:r>
            <a:r>
              <a:rPr lang="en-US" altLang="ja-JP" dirty="0" err="1"/>
              <a:t>vlan</a:t>
            </a:r>
            <a:r>
              <a:rPr lang="en-US" altLang="ja-JP" dirty="0"/>
              <a:t> 10</a:t>
            </a:r>
          </a:p>
          <a:p>
            <a:r>
              <a:rPr lang="en-US" altLang="ja-JP" dirty="0"/>
              <a:t>-</a:t>
            </a:r>
            <a:r>
              <a:rPr lang="en-US" altLang="ja-JP" dirty="0" err="1"/>
              <a:t>vtep</a:t>
            </a:r>
            <a:r>
              <a:rPr lang="en-US" altLang="ja-JP" dirty="0"/>
              <a:t>-peer 10.255.255.2</a:t>
            </a:r>
          </a:p>
        </p:txBody>
      </p:sp>
      <p:sp>
        <p:nvSpPr>
          <p:cNvPr id="3" name="テキスト ボックス 2">
            <a:extLst>
              <a:ext uri="{FF2B5EF4-FFF2-40B4-BE49-F238E27FC236}">
                <a16:creationId xmlns:a16="http://schemas.microsoft.com/office/drawing/2014/main" id="{B19A3865-09B8-9C4E-BB42-ECD87A994F7E}"/>
              </a:ext>
            </a:extLst>
          </p:cNvPr>
          <p:cNvSpPr txBox="1"/>
          <p:nvPr/>
        </p:nvSpPr>
        <p:spPr>
          <a:xfrm>
            <a:off x="2918691" y="6262255"/>
            <a:ext cx="5755102" cy="369332"/>
          </a:xfrm>
          <a:prstGeom prst="rect">
            <a:avLst/>
          </a:prstGeom>
          <a:noFill/>
        </p:spPr>
        <p:txBody>
          <a:bodyPr wrap="none" rtlCol="0">
            <a:spAutoFit/>
          </a:bodyPr>
          <a:lstStyle/>
          <a:p>
            <a:r>
              <a:rPr kumimoji="1" lang="en-US" altLang="ja-JP" dirty="0"/>
              <a:t>L3</a:t>
            </a:r>
            <a:r>
              <a:rPr kumimoji="1" lang="ja-JP" altLang="en-US" dirty="0"/>
              <a:t>ネットワークを超えて</a:t>
            </a:r>
            <a:r>
              <a:rPr kumimoji="1" lang="en-US" altLang="ja-JP" dirty="0"/>
              <a:t>ping</a:t>
            </a:r>
            <a:r>
              <a:rPr kumimoji="1" lang="ja-JP" altLang="en-US" dirty="0"/>
              <a:t>疎通が確認できました。</a:t>
            </a:r>
          </a:p>
        </p:txBody>
      </p:sp>
    </p:spTree>
    <p:extLst>
      <p:ext uri="{BB962C8B-B14F-4D97-AF65-F5344CB8AC3E}">
        <p14:creationId xmlns:p14="http://schemas.microsoft.com/office/powerpoint/2010/main" val="2395648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BABF05-C821-00D8-562D-969D9221BE4C}"/>
              </a:ext>
            </a:extLst>
          </p:cNvPr>
          <p:cNvSpPr>
            <a:spLocks noGrp="1"/>
          </p:cNvSpPr>
          <p:nvPr>
            <p:ph type="title"/>
          </p:nvPr>
        </p:nvSpPr>
        <p:spPr>
          <a:xfrm>
            <a:off x="752475" y="2451100"/>
            <a:ext cx="10515600" cy="1325563"/>
          </a:xfrm>
        </p:spPr>
        <p:txBody>
          <a:bodyPr/>
          <a:lstStyle/>
          <a:p>
            <a:r>
              <a:rPr kumimoji="1" lang="en-US" altLang="ja-JP" dirty="0" err="1"/>
              <a:t>QinQ</a:t>
            </a:r>
            <a:r>
              <a:rPr kumimoji="1" lang="ja-JP" altLang="en-US" dirty="0"/>
              <a:t>の検証</a:t>
            </a:r>
          </a:p>
        </p:txBody>
      </p:sp>
    </p:spTree>
    <p:extLst>
      <p:ext uri="{BB962C8B-B14F-4D97-AF65-F5344CB8AC3E}">
        <p14:creationId xmlns:p14="http://schemas.microsoft.com/office/powerpoint/2010/main" val="2397525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42956-4B20-8D3A-74CA-427DF20DC51B}"/>
              </a:ext>
            </a:extLst>
          </p:cNvPr>
          <p:cNvSpPr>
            <a:spLocks noGrp="1"/>
          </p:cNvSpPr>
          <p:nvPr>
            <p:ph type="title"/>
          </p:nvPr>
        </p:nvSpPr>
        <p:spPr/>
        <p:txBody>
          <a:bodyPr/>
          <a:lstStyle/>
          <a:p>
            <a:r>
              <a:rPr kumimoji="1" lang="en-US" altLang="ja-JP" dirty="0" err="1"/>
              <a:t>QinQ</a:t>
            </a:r>
            <a:r>
              <a:rPr kumimoji="1" lang="ja-JP" altLang="en-US" dirty="0"/>
              <a:t>の概要</a:t>
            </a:r>
          </a:p>
        </p:txBody>
      </p:sp>
      <p:sp>
        <p:nvSpPr>
          <p:cNvPr id="3" name="コンテンツ プレースホルダー 2">
            <a:extLst>
              <a:ext uri="{FF2B5EF4-FFF2-40B4-BE49-F238E27FC236}">
                <a16:creationId xmlns:a16="http://schemas.microsoft.com/office/drawing/2014/main" id="{03279833-9957-B596-13C1-F00D5492A300}"/>
              </a:ext>
            </a:extLst>
          </p:cNvPr>
          <p:cNvSpPr>
            <a:spLocks noGrp="1"/>
          </p:cNvSpPr>
          <p:nvPr>
            <p:ph idx="1"/>
          </p:nvPr>
        </p:nvSpPr>
        <p:spPr/>
        <p:txBody>
          <a:bodyPr/>
          <a:lstStyle/>
          <a:p>
            <a:r>
              <a:rPr kumimoji="1" lang="ja-JP" altLang="en-US" dirty="0"/>
              <a:t>これも同じ</a:t>
            </a:r>
            <a:r>
              <a:rPr lang="ja-JP" altLang="en-US" dirty="0"/>
              <a:t>アドレス帯を用いたシステムの区別を提供する仕組み</a:t>
            </a:r>
            <a:endParaRPr lang="en-US" altLang="ja-JP" dirty="0"/>
          </a:p>
          <a:p>
            <a:endParaRPr kumimoji="1" lang="en-US" altLang="ja-JP" dirty="0"/>
          </a:p>
          <a:p>
            <a:r>
              <a:rPr kumimoji="1" lang="en-US" altLang="ja-JP" dirty="0" err="1"/>
              <a:t>Vlan</a:t>
            </a:r>
            <a:r>
              <a:rPr kumimoji="1" lang="ja-JP" altLang="en-US" dirty="0"/>
              <a:t>タグを複数付けることで、所属の異なる</a:t>
            </a:r>
            <a:r>
              <a:rPr kumimoji="1" lang="en-US" altLang="ja-JP" dirty="0" err="1"/>
              <a:t>Vlan</a:t>
            </a:r>
            <a:r>
              <a:rPr kumimoji="1" lang="ja-JP" altLang="en-US" dirty="0"/>
              <a:t>番号の重複を制御する。</a:t>
            </a:r>
            <a:endParaRPr kumimoji="1" lang="en-US" altLang="ja-JP" dirty="0"/>
          </a:p>
          <a:p>
            <a:r>
              <a:rPr lang="ja-JP" altLang="en-US" dirty="0"/>
              <a:t>（例）</a:t>
            </a:r>
            <a:r>
              <a:rPr lang="en-US" altLang="ja-JP" dirty="0"/>
              <a:t>A</a:t>
            </a:r>
            <a:r>
              <a:rPr lang="ja-JP" altLang="en-US" dirty="0"/>
              <a:t>社　</a:t>
            </a:r>
            <a:r>
              <a:rPr lang="en-US" altLang="ja-JP" dirty="0"/>
              <a:t>Vlan10,Vlan20</a:t>
            </a:r>
          </a:p>
          <a:p>
            <a:r>
              <a:rPr kumimoji="1" lang="en-US" altLang="ja-JP" dirty="0"/>
              <a:t>          B</a:t>
            </a:r>
            <a:r>
              <a:rPr kumimoji="1" lang="ja-JP" altLang="en-US" dirty="0"/>
              <a:t>社　</a:t>
            </a:r>
            <a:r>
              <a:rPr kumimoji="1" lang="en-US" altLang="ja-JP" dirty="0"/>
              <a:t>Vlan10,Vlan20</a:t>
            </a:r>
          </a:p>
          <a:p>
            <a:endParaRPr lang="en-US" altLang="ja-JP" dirty="0"/>
          </a:p>
          <a:p>
            <a:endParaRPr kumimoji="1" lang="ja-JP" altLang="en-US" dirty="0"/>
          </a:p>
        </p:txBody>
      </p:sp>
      <p:pic>
        <p:nvPicPr>
          <p:cNvPr id="5" name="図 4">
            <a:extLst>
              <a:ext uri="{FF2B5EF4-FFF2-40B4-BE49-F238E27FC236}">
                <a16:creationId xmlns:a16="http://schemas.microsoft.com/office/drawing/2014/main" id="{468969E7-F94B-EC72-2569-157661F77EE1}"/>
              </a:ext>
            </a:extLst>
          </p:cNvPr>
          <p:cNvPicPr>
            <a:picLocks noChangeAspect="1"/>
          </p:cNvPicPr>
          <p:nvPr/>
        </p:nvPicPr>
        <p:blipFill>
          <a:blip r:embed="rId2"/>
          <a:stretch>
            <a:fillRect/>
          </a:stretch>
        </p:blipFill>
        <p:spPr>
          <a:xfrm>
            <a:off x="6534150" y="3761806"/>
            <a:ext cx="4891620" cy="3096194"/>
          </a:xfrm>
          <a:prstGeom prst="rect">
            <a:avLst/>
          </a:prstGeom>
        </p:spPr>
      </p:pic>
      <p:pic>
        <p:nvPicPr>
          <p:cNvPr id="7" name="図 6">
            <a:extLst>
              <a:ext uri="{FF2B5EF4-FFF2-40B4-BE49-F238E27FC236}">
                <a16:creationId xmlns:a16="http://schemas.microsoft.com/office/drawing/2014/main" id="{4A61FD6E-0830-8EDE-B1CD-2ED225D68108}"/>
              </a:ext>
            </a:extLst>
          </p:cNvPr>
          <p:cNvPicPr>
            <a:picLocks noChangeAspect="1"/>
          </p:cNvPicPr>
          <p:nvPr/>
        </p:nvPicPr>
        <p:blipFill>
          <a:blip r:embed="rId3"/>
          <a:stretch>
            <a:fillRect/>
          </a:stretch>
        </p:blipFill>
        <p:spPr>
          <a:xfrm>
            <a:off x="375754" y="5414680"/>
            <a:ext cx="5720246" cy="1219585"/>
          </a:xfrm>
          <a:prstGeom prst="rect">
            <a:avLst/>
          </a:prstGeom>
        </p:spPr>
      </p:pic>
    </p:spTree>
    <p:extLst>
      <p:ext uri="{BB962C8B-B14F-4D97-AF65-F5344CB8AC3E}">
        <p14:creationId xmlns:p14="http://schemas.microsoft.com/office/powerpoint/2010/main" val="3261635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E6A730-85F3-6B41-E4F5-6DA9AF5F06AA}"/>
              </a:ext>
            </a:extLst>
          </p:cNvPr>
          <p:cNvSpPr>
            <a:spLocks noGrp="1"/>
          </p:cNvSpPr>
          <p:nvPr>
            <p:ph type="title"/>
          </p:nvPr>
        </p:nvSpPr>
        <p:spPr/>
        <p:txBody>
          <a:bodyPr/>
          <a:lstStyle/>
          <a:p>
            <a:r>
              <a:rPr kumimoji="1" lang="en-US" altLang="ja-JP" dirty="0" err="1"/>
              <a:t>QinQ</a:t>
            </a:r>
            <a:r>
              <a:rPr kumimoji="1" lang="ja-JP" altLang="en-US" dirty="0"/>
              <a:t>の概要（フレームフォーマット）</a:t>
            </a:r>
          </a:p>
        </p:txBody>
      </p:sp>
      <p:pic>
        <p:nvPicPr>
          <p:cNvPr id="5" name="図 4">
            <a:extLst>
              <a:ext uri="{FF2B5EF4-FFF2-40B4-BE49-F238E27FC236}">
                <a16:creationId xmlns:a16="http://schemas.microsoft.com/office/drawing/2014/main" id="{1762C687-283C-ECF5-1EC8-485D4ED667E3}"/>
              </a:ext>
            </a:extLst>
          </p:cNvPr>
          <p:cNvPicPr>
            <a:picLocks noChangeAspect="1"/>
          </p:cNvPicPr>
          <p:nvPr/>
        </p:nvPicPr>
        <p:blipFill>
          <a:blip r:embed="rId2"/>
          <a:stretch>
            <a:fillRect/>
          </a:stretch>
        </p:blipFill>
        <p:spPr>
          <a:xfrm>
            <a:off x="247649" y="1790793"/>
            <a:ext cx="5986358" cy="3047907"/>
          </a:xfrm>
          <a:prstGeom prst="rect">
            <a:avLst/>
          </a:prstGeom>
        </p:spPr>
      </p:pic>
      <p:pic>
        <p:nvPicPr>
          <p:cNvPr id="7" name="図 6">
            <a:extLst>
              <a:ext uri="{FF2B5EF4-FFF2-40B4-BE49-F238E27FC236}">
                <a16:creationId xmlns:a16="http://schemas.microsoft.com/office/drawing/2014/main" id="{79F4EFC0-9876-9264-B51C-1496B2D6CEBA}"/>
              </a:ext>
            </a:extLst>
          </p:cNvPr>
          <p:cNvPicPr>
            <a:picLocks noChangeAspect="1"/>
          </p:cNvPicPr>
          <p:nvPr/>
        </p:nvPicPr>
        <p:blipFill>
          <a:blip r:embed="rId3"/>
          <a:stretch>
            <a:fillRect/>
          </a:stretch>
        </p:blipFill>
        <p:spPr>
          <a:xfrm>
            <a:off x="6425389" y="1690688"/>
            <a:ext cx="5242735" cy="3705954"/>
          </a:xfrm>
          <a:prstGeom prst="rect">
            <a:avLst/>
          </a:prstGeom>
        </p:spPr>
      </p:pic>
    </p:spTree>
    <p:extLst>
      <p:ext uri="{BB962C8B-B14F-4D97-AF65-F5344CB8AC3E}">
        <p14:creationId xmlns:p14="http://schemas.microsoft.com/office/powerpoint/2010/main" val="2388402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80D0E-BF33-537E-827C-9E85309D5F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C1F644-DCDC-F94E-E020-787B910EB5F4}"/>
              </a:ext>
            </a:extLst>
          </p:cNvPr>
          <p:cNvSpPr>
            <a:spLocks noGrp="1"/>
          </p:cNvSpPr>
          <p:nvPr>
            <p:ph type="title"/>
          </p:nvPr>
        </p:nvSpPr>
        <p:spPr/>
        <p:txBody>
          <a:bodyPr/>
          <a:lstStyle/>
          <a:p>
            <a:r>
              <a:rPr kumimoji="1" lang="en-US" altLang="ja-JP" dirty="0"/>
              <a:t>Step1</a:t>
            </a:r>
            <a:r>
              <a:rPr kumimoji="1" lang="ja-JP" altLang="en-US" dirty="0"/>
              <a:t>　スイッチを使った</a:t>
            </a:r>
            <a:r>
              <a:rPr lang="ja-JP" altLang="en-US" dirty="0"/>
              <a:t>基本環境構築</a:t>
            </a:r>
            <a:endParaRPr kumimoji="1" lang="ja-JP" altLang="en-US" dirty="0"/>
          </a:p>
        </p:txBody>
      </p:sp>
      <p:pic>
        <p:nvPicPr>
          <p:cNvPr id="4" name="グラフィックス 3" descr="コンピューター 単色塗りつぶし">
            <a:extLst>
              <a:ext uri="{FF2B5EF4-FFF2-40B4-BE49-F238E27FC236}">
                <a16:creationId xmlns:a16="http://schemas.microsoft.com/office/drawing/2014/main" id="{957E352D-E1E2-AE69-8591-B41942255B2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49344" y="2343150"/>
            <a:ext cx="914400" cy="914400"/>
          </a:xfrm>
          <a:prstGeom prst="rect">
            <a:avLst/>
          </a:prstGeom>
        </p:spPr>
      </p:pic>
      <p:pic>
        <p:nvPicPr>
          <p:cNvPr id="5" name="グラフィックス 4" descr="コンピューター 単色塗りつぶし">
            <a:extLst>
              <a:ext uri="{FF2B5EF4-FFF2-40B4-BE49-F238E27FC236}">
                <a16:creationId xmlns:a16="http://schemas.microsoft.com/office/drawing/2014/main" id="{29325290-67CE-0BC7-0F83-56DB944A96D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3100" y="2343150"/>
            <a:ext cx="914400" cy="914400"/>
          </a:xfrm>
          <a:prstGeom prst="rect">
            <a:avLst/>
          </a:prstGeom>
        </p:spPr>
      </p:pic>
      <p:cxnSp>
        <p:nvCxnSpPr>
          <p:cNvPr id="6" name="直線コネクタ 5">
            <a:extLst>
              <a:ext uri="{FF2B5EF4-FFF2-40B4-BE49-F238E27FC236}">
                <a16:creationId xmlns:a16="http://schemas.microsoft.com/office/drawing/2014/main" id="{EDD51863-34D2-C4FA-D56C-B8E775375C3A}"/>
              </a:ext>
            </a:extLst>
          </p:cNvPr>
          <p:cNvCxnSpPr>
            <a:cxnSpLocks/>
            <a:stCxn id="11" idx="6"/>
            <a:endCxn id="25" idx="2"/>
          </p:cNvCxnSpPr>
          <p:nvPr/>
        </p:nvCxnSpPr>
        <p:spPr>
          <a:xfrm flipV="1">
            <a:off x="1708713" y="2800350"/>
            <a:ext cx="1518672" cy="35692"/>
          </a:xfrm>
          <a:prstGeom prst="line">
            <a:avLst/>
          </a:prstGeom>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D6F4E740-D978-14DE-2E26-32A6E9762D02}"/>
              </a:ext>
            </a:extLst>
          </p:cNvPr>
          <p:cNvSpPr txBox="1"/>
          <p:nvPr/>
        </p:nvSpPr>
        <p:spPr>
          <a:xfrm>
            <a:off x="200827" y="2147888"/>
            <a:ext cx="1935145" cy="369332"/>
          </a:xfrm>
          <a:prstGeom prst="rect">
            <a:avLst/>
          </a:prstGeom>
          <a:noFill/>
        </p:spPr>
        <p:txBody>
          <a:bodyPr wrap="none" rtlCol="0">
            <a:spAutoFit/>
          </a:bodyPr>
          <a:lstStyle/>
          <a:p>
            <a:r>
              <a:rPr kumimoji="1" lang="en-US" altLang="ja-JP" dirty="0"/>
              <a:t>Ubuntu Server A</a:t>
            </a:r>
            <a:endParaRPr kumimoji="1" lang="ja-JP" altLang="en-US" dirty="0"/>
          </a:p>
        </p:txBody>
      </p:sp>
      <p:sp>
        <p:nvSpPr>
          <p:cNvPr id="8" name="テキスト ボックス 7">
            <a:extLst>
              <a:ext uri="{FF2B5EF4-FFF2-40B4-BE49-F238E27FC236}">
                <a16:creationId xmlns:a16="http://schemas.microsoft.com/office/drawing/2014/main" id="{A8B7E675-1D0D-31F6-B243-7310CFA92CDF}"/>
              </a:ext>
            </a:extLst>
          </p:cNvPr>
          <p:cNvSpPr txBox="1"/>
          <p:nvPr/>
        </p:nvSpPr>
        <p:spPr>
          <a:xfrm>
            <a:off x="9823899" y="2158484"/>
            <a:ext cx="1943161" cy="369332"/>
          </a:xfrm>
          <a:prstGeom prst="rect">
            <a:avLst/>
          </a:prstGeom>
          <a:noFill/>
        </p:spPr>
        <p:txBody>
          <a:bodyPr wrap="none" rtlCol="0">
            <a:spAutoFit/>
          </a:bodyPr>
          <a:lstStyle/>
          <a:p>
            <a:r>
              <a:rPr kumimoji="1" lang="en-US" altLang="ja-JP" dirty="0"/>
              <a:t>Ubuntu Server B</a:t>
            </a:r>
            <a:endParaRPr kumimoji="1" lang="ja-JP" altLang="en-US" dirty="0"/>
          </a:p>
        </p:txBody>
      </p:sp>
      <p:sp>
        <p:nvSpPr>
          <p:cNvPr id="9" name="テキスト ボックス 8">
            <a:extLst>
              <a:ext uri="{FF2B5EF4-FFF2-40B4-BE49-F238E27FC236}">
                <a16:creationId xmlns:a16="http://schemas.microsoft.com/office/drawing/2014/main" id="{4A3858C7-83D8-1542-F3FA-795614184294}"/>
              </a:ext>
            </a:extLst>
          </p:cNvPr>
          <p:cNvSpPr txBox="1"/>
          <p:nvPr/>
        </p:nvSpPr>
        <p:spPr>
          <a:xfrm>
            <a:off x="205635" y="3196321"/>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a:t>Interface ens33</a:t>
            </a:r>
          </a:p>
          <a:p>
            <a:r>
              <a:rPr lang="en-US" altLang="ja-JP" dirty="0"/>
              <a:t>IP:192.168.10.101</a:t>
            </a:r>
            <a:endParaRPr kumimoji="1" lang="ja-JP" altLang="en-US" dirty="0"/>
          </a:p>
        </p:txBody>
      </p:sp>
      <p:sp>
        <p:nvSpPr>
          <p:cNvPr id="10" name="テキスト ボックス 9">
            <a:extLst>
              <a:ext uri="{FF2B5EF4-FFF2-40B4-BE49-F238E27FC236}">
                <a16:creationId xmlns:a16="http://schemas.microsoft.com/office/drawing/2014/main" id="{05C9054B-BEA1-34E8-C6A1-0F21AF9CF050}"/>
              </a:ext>
            </a:extLst>
          </p:cNvPr>
          <p:cNvSpPr txBox="1"/>
          <p:nvPr/>
        </p:nvSpPr>
        <p:spPr>
          <a:xfrm>
            <a:off x="9407205" y="3137668"/>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a:t>Interface ens33</a:t>
            </a:r>
          </a:p>
          <a:p>
            <a:r>
              <a:rPr lang="en-US" altLang="ja-JP" dirty="0"/>
              <a:t>IP:192.168.10.102</a:t>
            </a:r>
            <a:endParaRPr kumimoji="1" lang="ja-JP" altLang="en-US" dirty="0"/>
          </a:p>
        </p:txBody>
      </p:sp>
      <p:sp>
        <p:nvSpPr>
          <p:cNvPr id="11" name="楕円 10">
            <a:extLst>
              <a:ext uri="{FF2B5EF4-FFF2-40B4-BE49-F238E27FC236}">
                <a16:creationId xmlns:a16="http://schemas.microsoft.com/office/drawing/2014/main" id="{46D7921D-45BE-E67A-B00E-09B23391CB8A}"/>
              </a:ext>
            </a:extLst>
          </p:cNvPr>
          <p:cNvSpPr/>
          <p:nvPr/>
        </p:nvSpPr>
        <p:spPr>
          <a:xfrm>
            <a:off x="1540085" y="274829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2F33E10F-B951-9E11-19AF-CACCFC56A05E}"/>
              </a:ext>
            </a:extLst>
          </p:cNvPr>
          <p:cNvSpPr/>
          <p:nvPr/>
        </p:nvSpPr>
        <p:spPr>
          <a:xfrm>
            <a:off x="10228131" y="273295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AED96192-C229-DCAF-A8D0-574269B9123E}"/>
              </a:ext>
            </a:extLst>
          </p:cNvPr>
          <p:cNvPicPr>
            <a:picLocks noChangeAspect="1"/>
          </p:cNvPicPr>
          <p:nvPr/>
        </p:nvPicPr>
        <p:blipFill>
          <a:blip r:embed="rId3"/>
          <a:stretch>
            <a:fillRect/>
          </a:stretch>
        </p:blipFill>
        <p:spPr>
          <a:xfrm>
            <a:off x="3227385" y="2370956"/>
            <a:ext cx="1705213" cy="724001"/>
          </a:xfrm>
          <a:prstGeom prst="rect">
            <a:avLst/>
          </a:prstGeom>
        </p:spPr>
      </p:pic>
      <p:pic>
        <p:nvPicPr>
          <p:cNvPr id="20" name="図 19">
            <a:extLst>
              <a:ext uri="{FF2B5EF4-FFF2-40B4-BE49-F238E27FC236}">
                <a16:creationId xmlns:a16="http://schemas.microsoft.com/office/drawing/2014/main" id="{CDC4044F-BFAF-5614-79C2-BF042C5C3C78}"/>
              </a:ext>
            </a:extLst>
          </p:cNvPr>
          <p:cNvPicPr>
            <a:picLocks noChangeAspect="1"/>
          </p:cNvPicPr>
          <p:nvPr/>
        </p:nvPicPr>
        <p:blipFill>
          <a:blip r:embed="rId3"/>
          <a:stretch>
            <a:fillRect/>
          </a:stretch>
        </p:blipFill>
        <p:spPr>
          <a:xfrm>
            <a:off x="6572484" y="2386296"/>
            <a:ext cx="1705213" cy="724001"/>
          </a:xfrm>
          <a:prstGeom prst="rect">
            <a:avLst/>
          </a:prstGeom>
        </p:spPr>
      </p:pic>
      <p:cxnSp>
        <p:nvCxnSpPr>
          <p:cNvPr id="22" name="直線コネクタ 21">
            <a:extLst>
              <a:ext uri="{FF2B5EF4-FFF2-40B4-BE49-F238E27FC236}">
                <a16:creationId xmlns:a16="http://schemas.microsoft.com/office/drawing/2014/main" id="{5AFF81EA-6169-0173-B7FC-5D29C2060C22}"/>
              </a:ext>
            </a:extLst>
          </p:cNvPr>
          <p:cNvCxnSpPr>
            <a:cxnSpLocks/>
            <a:stCxn id="29" idx="6"/>
          </p:cNvCxnSpPr>
          <p:nvPr/>
        </p:nvCxnSpPr>
        <p:spPr>
          <a:xfrm flipV="1">
            <a:off x="8277697" y="2836042"/>
            <a:ext cx="1950434" cy="6433"/>
          </a:xfrm>
          <a:prstGeom prst="line">
            <a:avLst/>
          </a:prstGeom>
        </p:spPr>
        <p:style>
          <a:lnRef idx="2">
            <a:schemeClr val="accent1"/>
          </a:lnRef>
          <a:fillRef idx="0">
            <a:schemeClr val="accent1"/>
          </a:fillRef>
          <a:effectRef idx="1">
            <a:schemeClr val="accent1"/>
          </a:effectRef>
          <a:fontRef idx="minor">
            <a:schemeClr val="tx1"/>
          </a:fontRef>
        </p:style>
      </p:cxnSp>
      <p:sp>
        <p:nvSpPr>
          <p:cNvPr id="25" name="楕円 24">
            <a:extLst>
              <a:ext uri="{FF2B5EF4-FFF2-40B4-BE49-F238E27FC236}">
                <a16:creationId xmlns:a16="http://schemas.microsoft.com/office/drawing/2014/main" id="{942AFB52-17B1-0867-8D98-B9A4792ACF40}"/>
              </a:ext>
            </a:extLst>
          </p:cNvPr>
          <p:cNvSpPr/>
          <p:nvPr/>
        </p:nvSpPr>
        <p:spPr>
          <a:xfrm>
            <a:off x="3227385" y="2712605"/>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73BBD8EA-FC07-227D-DC5E-38111F7EBC98}"/>
              </a:ext>
            </a:extLst>
          </p:cNvPr>
          <p:cNvSpPr/>
          <p:nvPr/>
        </p:nvSpPr>
        <p:spPr>
          <a:xfrm>
            <a:off x="8109069" y="2754730"/>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0E32202C-7D60-E226-6F79-6603C6CA598E}"/>
              </a:ext>
            </a:extLst>
          </p:cNvPr>
          <p:cNvSpPr/>
          <p:nvPr/>
        </p:nvSpPr>
        <p:spPr>
          <a:xfrm>
            <a:off x="4782956" y="2754730"/>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7988E0BF-6815-5BE2-F491-3DC1802D93A2}"/>
              </a:ext>
            </a:extLst>
          </p:cNvPr>
          <p:cNvSpPr/>
          <p:nvPr/>
        </p:nvSpPr>
        <p:spPr>
          <a:xfrm>
            <a:off x="6591470" y="2773072"/>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cxnSp>
        <p:nvCxnSpPr>
          <p:cNvPr id="35" name="直線コネクタ 34">
            <a:extLst>
              <a:ext uri="{FF2B5EF4-FFF2-40B4-BE49-F238E27FC236}">
                <a16:creationId xmlns:a16="http://schemas.microsoft.com/office/drawing/2014/main" id="{4F1F14AE-404C-09FF-AB59-F16EF80EEDD4}"/>
              </a:ext>
            </a:extLst>
          </p:cNvPr>
          <p:cNvCxnSpPr>
            <a:cxnSpLocks/>
            <a:stCxn id="32" idx="6"/>
            <a:endCxn id="34" idx="2"/>
          </p:cNvCxnSpPr>
          <p:nvPr/>
        </p:nvCxnSpPr>
        <p:spPr>
          <a:xfrm>
            <a:off x="4951584" y="2842475"/>
            <a:ext cx="1639886" cy="18342"/>
          </a:xfrm>
          <a:prstGeom prst="line">
            <a:avLst/>
          </a:prstGeom>
        </p:spPr>
        <p:style>
          <a:lnRef idx="2">
            <a:schemeClr val="accent2"/>
          </a:lnRef>
          <a:fillRef idx="0">
            <a:schemeClr val="accent2"/>
          </a:fillRef>
          <a:effectRef idx="1">
            <a:schemeClr val="accent2"/>
          </a:effectRef>
          <a:fontRef idx="minor">
            <a:schemeClr val="tx1"/>
          </a:fontRef>
        </p:style>
      </p:cxnSp>
      <p:sp>
        <p:nvSpPr>
          <p:cNvPr id="39" name="テキスト ボックス 38">
            <a:extLst>
              <a:ext uri="{FF2B5EF4-FFF2-40B4-BE49-F238E27FC236}">
                <a16:creationId xmlns:a16="http://schemas.microsoft.com/office/drawing/2014/main" id="{7BE96FC5-08A9-2E89-3FE9-8308A4ED5E16}"/>
              </a:ext>
            </a:extLst>
          </p:cNvPr>
          <p:cNvSpPr txBox="1"/>
          <p:nvPr/>
        </p:nvSpPr>
        <p:spPr>
          <a:xfrm>
            <a:off x="3967429" y="1715326"/>
            <a:ext cx="1996059"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20</a:t>
            </a:r>
            <a:endParaRPr kumimoji="1" lang="en-US" altLang="ja-JP" dirty="0"/>
          </a:p>
          <a:p>
            <a:r>
              <a:rPr lang="en-US" altLang="ja-JP" dirty="0"/>
              <a:t>IP:192.168.20.1</a:t>
            </a:r>
            <a:endParaRPr kumimoji="1" lang="ja-JP" altLang="en-US" dirty="0"/>
          </a:p>
        </p:txBody>
      </p:sp>
      <p:sp>
        <p:nvSpPr>
          <p:cNvPr id="41" name="テキスト ボックス 40">
            <a:extLst>
              <a:ext uri="{FF2B5EF4-FFF2-40B4-BE49-F238E27FC236}">
                <a16:creationId xmlns:a16="http://schemas.microsoft.com/office/drawing/2014/main" id="{279E6C32-7C16-3E92-4637-3F00481DF135}"/>
              </a:ext>
            </a:extLst>
          </p:cNvPr>
          <p:cNvSpPr txBox="1"/>
          <p:nvPr/>
        </p:nvSpPr>
        <p:spPr>
          <a:xfrm>
            <a:off x="6319432" y="1690688"/>
            <a:ext cx="1996059"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20</a:t>
            </a:r>
            <a:endParaRPr kumimoji="1" lang="en-US" altLang="ja-JP" dirty="0"/>
          </a:p>
          <a:p>
            <a:r>
              <a:rPr lang="en-US" altLang="ja-JP" dirty="0"/>
              <a:t>IP:192.168.20.2</a:t>
            </a:r>
            <a:endParaRPr kumimoji="1" lang="ja-JP" altLang="en-US" dirty="0"/>
          </a:p>
        </p:txBody>
      </p:sp>
      <p:sp>
        <p:nvSpPr>
          <p:cNvPr id="43" name="テキスト ボックス 42">
            <a:extLst>
              <a:ext uri="{FF2B5EF4-FFF2-40B4-BE49-F238E27FC236}">
                <a16:creationId xmlns:a16="http://schemas.microsoft.com/office/drawing/2014/main" id="{1F893CE4-6AEF-AD23-B02B-FEDC9DE41BC0}"/>
              </a:ext>
            </a:extLst>
          </p:cNvPr>
          <p:cNvSpPr txBox="1"/>
          <p:nvPr/>
        </p:nvSpPr>
        <p:spPr>
          <a:xfrm>
            <a:off x="2503264" y="3176154"/>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10</a:t>
            </a:r>
            <a:endParaRPr kumimoji="1" lang="en-US" altLang="ja-JP" dirty="0"/>
          </a:p>
          <a:p>
            <a:r>
              <a:rPr lang="en-US" altLang="ja-JP" dirty="0"/>
              <a:t>IP:192.168.10.254</a:t>
            </a:r>
            <a:endParaRPr kumimoji="1" lang="ja-JP" altLang="en-US" dirty="0"/>
          </a:p>
        </p:txBody>
      </p:sp>
      <p:sp>
        <p:nvSpPr>
          <p:cNvPr id="45" name="テキスト ボックス 44">
            <a:extLst>
              <a:ext uri="{FF2B5EF4-FFF2-40B4-BE49-F238E27FC236}">
                <a16:creationId xmlns:a16="http://schemas.microsoft.com/office/drawing/2014/main" id="{E24825AF-79A9-8780-05E0-C12C4BE5174A}"/>
              </a:ext>
            </a:extLst>
          </p:cNvPr>
          <p:cNvSpPr txBox="1"/>
          <p:nvPr/>
        </p:nvSpPr>
        <p:spPr>
          <a:xfrm>
            <a:off x="7092533" y="3196321"/>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10</a:t>
            </a:r>
            <a:endParaRPr kumimoji="1" lang="en-US" altLang="ja-JP" dirty="0"/>
          </a:p>
          <a:p>
            <a:r>
              <a:rPr lang="en-US" altLang="ja-JP" dirty="0"/>
              <a:t>IP:192.168.10.254</a:t>
            </a:r>
            <a:endParaRPr kumimoji="1" lang="ja-JP" altLang="en-US" dirty="0"/>
          </a:p>
        </p:txBody>
      </p:sp>
      <p:sp>
        <p:nvSpPr>
          <p:cNvPr id="13" name="楕円 12">
            <a:extLst>
              <a:ext uri="{FF2B5EF4-FFF2-40B4-BE49-F238E27FC236}">
                <a16:creationId xmlns:a16="http://schemas.microsoft.com/office/drawing/2014/main" id="{F93F4EE3-B469-A309-9F18-0AB325174083}"/>
              </a:ext>
            </a:extLst>
          </p:cNvPr>
          <p:cNvSpPr/>
          <p:nvPr/>
        </p:nvSpPr>
        <p:spPr>
          <a:xfrm>
            <a:off x="3984308" y="2800350"/>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F079F660-0B05-D374-6671-5E08BABFDF0D}"/>
              </a:ext>
            </a:extLst>
          </p:cNvPr>
          <p:cNvSpPr/>
          <p:nvPr/>
        </p:nvSpPr>
        <p:spPr>
          <a:xfrm>
            <a:off x="7398059" y="2778457"/>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10741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EEDFD-A5FC-3138-56BA-61BE36DAE4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6F8303-4EC7-C88E-8BEB-3CD304E073FF}"/>
              </a:ext>
            </a:extLst>
          </p:cNvPr>
          <p:cNvSpPr>
            <a:spLocks noGrp="1"/>
          </p:cNvSpPr>
          <p:nvPr>
            <p:ph type="title"/>
          </p:nvPr>
        </p:nvSpPr>
        <p:spPr/>
        <p:txBody>
          <a:bodyPr/>
          <a:lstStyle/>
          <a:p>
            <a:r>
              <a:rPr kumimoji="1" lang="en-US" altLang="ja-JP" dirty="0"/>
              <a:t>Step2</a:t>
            </a:r>
            <a:r>
              <a:rPr kumimoji="1" lang="ja-JP" altLang="en-US" dirty="0"/>
              <a:t>　スイッチを使った</a:t>
            </a:r>
            <a:r>
              <a:rPr kumimoji="1" lang="en-US" altLang="ja-JP" dirty="0" err="1"/>
              <a:t>QinQ</a:t>
            </a:r>
            <a:r>
              <a:rPr lang="ja-JP" altLang="en-US" dirty="0"/>
              <a:t>環境構築</a:t>
            </a:r>
            <a:endParaRPr kumimoji="1" lang="ja-JP" altLang="en-US" dirty="0"/>
          </a:p>
        </p:txBody>
      </p:sp>
      <p:pic>
        <p:nvPicPr>
          <p:cNvPr id="4" name="グラフィックス 3" descr="コンピューター 単色塗りつぶし">
            <a:extLst>
              <a:ext uri="{FF2B5EF4-FFF2-40B4-BE49-F238E27FC236}">
                <a16:creationId xmlns:a16="http://schemas.microsoft.com/office/drawing/2014/main" id="{C7A8A2C9-80A7-3E4C-1813-5EEBBED1FA9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49344" y="2343150"/>
            <a:ext cx="914400" cy="914400"/>
          </a:xfrm>
          <a:prstGeom prst="rect">
            <a:avLst/>
          </a:prstGeom>
        </p:spPr>
      </p:pic>
      <p:pic>
        <p:nvPicPr>
          <p:cNvPr id="5" name="グラフィックス 4" descr="コンピューター 単色塗りつぶし">
            <a:extLst>
              <a:ext uri="{FF2B5EF4-FFF2-40B4-BE49-F238E27FC236}">
                <a16:creationId xmlns:a16="http://schemas.microsoft.com/office/drawing/2014/main" id="{FA79EB0F-AD46-44BF-C674-EA10C6C600F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07186" y="4528134"/>
            <a:ext cx="429757" cy="429757"/>
          </a:xfrm>
          <a:prstGeom prst="rect">
            <a:avLst/>
          </a:prstGeom>
        </p:spPr>
      </p:pic>
      <p:cxnSp>
        <p:nvCxnSpPr>
          <p:cNvPr id="6" name="直線コネクタ 5">
            <a:extLst>
              <a:ext uri="{FF2B5EF4-FFF2-40B4-BE49-F238E27FC236}">
                <a16:creationId xmlns:a16="http://schemas.microsoft.com/office/drawing/2014/main" id="{FD7990BB-15AE-BED6-A8A6-25FF7AEDBFBE}"/>
              </a:ext>
            </a:extLst>
          </p:cNvPr>
          <p:cNvCxnSpPr>
            <a:cxnSpLocks/>
            <a:stCxn id="11" idx="6"/>
            <a:endCxn id="25" idx="2"/>
          </p:cNvCxnSpPr>
          <p:nvPr/>
        </p:nvCxnSpPr>
        <p:spPr>
          <a:xfrm flipV="1">
            <a:off x="1708713" y="2800350"/>
            <a:ext cx="1518672" cy="35692"/>
          </a:xfrm>
          <a:prstGeom prst="line">
            <a:avLst/>
          </a:prstGeom>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4BFDED76-787D-4C42-43B6-9B2AB54D36CE}"/>
              </a:ext>
            </a:extLst>
          </p:cNvPr>
          <p:cNvSpPr txBox="1"/>
          <p:nvPr/>
        </p:nvSpPr>
        <p:spPr>
          <a:xfrm>
            <a:off x="200827" y="2147888"/>
            <a:ext cx="1935145" cy="369332"/>
          </a:xfrm>
          <a:prstGeom prst="rect">
            <a:avLst/>
          </a:prstGeom>
          <a:noFill/>
        </p:spPr>
        <p:txBody>
          <a:bodyPr wrap="none" rtlCol="0">
            <a:spAutoFit/>
          </a:bodyPr>
          <a:lstStyle/>
          <a:p>
            <a:r>
              <a:rPr kumimoji="1" lang="en-US" altLang="ja-JP" dirty="0"/>
              <a:t>Ubuntu Server A</a:t>
            </a:r>
            <a:endParaRPr kumimoji="1" lang="ja-JP" altLang="en-US" dirty="0"/>
          </a:p>
        </p:txBody>
      </p:sp>
      <p:sp>
        <p:nvSpPr>
          <p:cNvPr id="8" name="テキスト ボックス 7">
            <a:extLst>
              <a:ext uri="{FF2B5EF4-FFF2-40B4-BE49-F238E27FC236}">
                <a16:creationId xmlns:a16="http://schemas.microsoft.com/office/drawing/2014/main" id="{65019636-0055-4918-55C4-41B5C74749ED}"/>
              </a:ext>
            </a:extLst>
          </p:cNvPr>
          <p:cNvSpPr txBox="1"/>
          <p:nvPr/>
        </p:nvSpPr>
        <p:spPr>
          <a:xfrm>
            <a:off x="9823899" y="2158484"/>
            <a:ext cx="1943161" cy="369332"/>
          </a:xfrm>
          <a:prstGeom prst="rect">
            <a:avLst/>
          </a:prstGeom>
          <a:noFill/>
        </p:spPr>
        <p:txBody>
          <a:bodyPr wrap="none" rtlCol="0">
            <a:spAutoFit/>
          </a:bodyPr>
          <a:lstStyle/>
          <a:p>
            <a:r>
              <a:rPr kumimoji="1" lang="en-US" altLang="ja-JP" dirty="0"/>
              <a:t>Ubuntu Server B</a:t>
            </a:r>
            <a:endParaRPr kumimoji="1" lang="ja-JP" altLang="en-US" dirty="0"/>
          </a:p>
        </p:txBody>
      </p:sp>
      <p:sp>
        <p:nvSpPr>
          <p:cNvPr id="9" name="テキスト ボックス 8">
            <a:extLst>
              <a:ext uri="{FF2B5EF4-FFF2-40B4-BE49-F238E27FC236}">
                <a16:creationId xmlns:a16="http://schemas.microsoft.com/office/drawing/2014/main" id="{93ABB0F2-8266-586A-CA97-0CD55DB1B821}"/>
              </a:ext>
            </a:extLst>
          </p:cNvPr>
          <p:cNvSpPr txBox="1"/>
          <p:nvPr/>
        </p:nvSpPr>
        <p:spPr>
          <a:xfrm>
            <a:off x="205635" y="3196321"/>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a:t>Interface ens33</a:t>
            </a:r>
          </a:p>
          <a:p>
            <a:r>
              <a:rPr lang="en-US" altLang="ja-JP" dirty="0"/>
              <a:t>IP:192.168.10.101</a:t>
            </a:r>
            <a:endParaRPr kumimoji="1" lang="ja-JP" altLang="en-US" dirty="0"/>
          </a:p>
        </p:txBody>
      </p:sp>
      <p:sp>
        <p:nvSpPr>
          <p:cNvPr id="10" name="テキスト ボックス 9">
            <a:extLst>
              <a:ext uri="{FF2B5EF4-FFF2-40B4-BE49-F238E27FC236}">
                <a16:creationId xmlns:a16="http://schemas.microsoft.com/office/drawing/2014/main" id="{77BD559A-FAA8-D891-9F31-DBC10FC042AF}"/>
              </a:ext>
            </a:extLst>
          </p:cNvPr>
          <p:cNvSpPr txBox="1"/>
          <p:nvPr/>
        </p:nvSpPr>
        <p:spPr>
          <a:xfrm>
            <a:off x="9407205" y="3137668"/>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a:t>Interface ens33</a:t>
            </a:r>
          </a:p>
          <a:p>
            <a:r>
              <a:rPr lang="en-US" altLang="ja-JP" dirty="0"/>
              <a:t>IP:192.168.10.102</a:t>
            </a:r>
            <a:endParaRPr kumimoji="1" lang="ja-JP" altLang="en-US" dirty="0"/>
          </a:p>
        </p:txBody>
      </p:sp>
      <p:sp>
        <p:nvSpPr>
          <p:cNvPr id="11" name="楕円 10">
            <a:extLst>
              <a:ext uri="{FF2B5EF4-FFF2-40B4-BE49-F238E27FC236}">
                <a16:creationId xmlns:a16="http://schemas.microsoft.com/office/drawing/2014/main" id="{BFFF3A38-6886-59F8-9CCF-A9B8E4DD0552}"/>
              </a:ext>
            </a:extLst>
          </p:cNvPr>
          <p:cNvSpPr/>
          <p:nvPr/>
        </p:nvSpPr>
        <p:spPr>
          <a:xfrm>
            <a:off x="1540085" y="274829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B630A599-98B7-5F5A-A630-4B3A3A3A7A35}"/>
              </a:ext>
            </a:extLst>
          </p:cNvPr>
          <p:cNvSpPr/>
          <p:nvPr/>
        </p:nvSpPr>
        <p:spPr>
          <a:xfrm>
            <a:off x="10228131" y="273295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278AA79C-7B9A-763B-26EB-E4843FE20BFB}"/>
              </a:ext>
            </a:extLst>
          </p:cNvPr>
          <p:cNvPicPr>
            <a:picLocks noChangeAspect="1"/>
          </p:cNvPicPr>
          <p:nvPr/>
        </p:nvPicPr>
        <p:blipFill>
          <a:blip r:embed="rId3"/>
          <a:stretch>
            <a:fillRect/>
          </a:stretch>
        </p:blipFill>
        <p:spPr>
          <a:xfrm>
            <a:off x="3227385" y="2370956"/>
            <a:ext cx="1705213" cy="724001"/>
          </a:xfrm>
          <a:prstGeom prst="rect">
            <a:avLst/>
          </a:prstGeom>
        </p:spPr>
      </p:pic>
      <p:pic>
        <p:nvPicPr>
          <p:cNvPr id="20" name="図 19">
            <a:extLst>
              <a:ext uri="{FF2B5EF4-FFF2-40B4-BE49-F238E27FC236}">
                <a16:creationId xmlns:a16="http://schemas.microsoft.com/office/drawing/2014/main" id="{7C45CA80-4846-7892-E73C-F655953D82B8}"/>
              </a:ext>
            </a:extLst>
          </p:cNvPr>
          <p:cNvPicPr>
            <a:picLocks noChangeAspect="1"/>
          </p:cNvPicPr>
          <p:nvPr/>
        </p:nvPicPr>
        <p:blipFill>
          <a:blip r:embed="rId3"/>
          <a:stretch>
            <a:fillRect/>
          </a:stretch>
        </p:blipFill>
        <p:spPr>
          <a:xfrm>
            <a:off x="6572484" y="2386296"/>
            <a:ext cx="1705213" cy="724001"/>
          </a:xfrm>
          <a:prstGeom prst="rect">
            <a:avLst/>
          </a:prstGeom>
        </p:spPr>
      </p:pic>
      <p:cxnSp>
        <p:nvCxnSpPr>
          <p:cNvPr id="22" name="直線コネクタ 21">
            <a:extLst>
              <a:ext uri="{FF2B5EF4-FFF2-40B4-BE49-F238E27FC236}">
                <a16:creationId xmlns:a16="http://schemas.microsoft.com/office/drawing/2014/main" id="{B08D99EC-9A02-3C09-50F8-E7B5E2A46E27}"/>
              </a:ext>
            </a:extLst>
          </p:cNvPr>
          <p:cNvCxnSpPr>
            <a:cxnSpLocks/>
            <a:stCxn id="29" idx="6"/>
          </p:cNvCxnSpPr>
          <p:nvPr/>
        </p:nvCxnSpPr>
        <p:spPr>
          <a:xfrm flipV="1">
            <a:off x="8277697" y="2836042"/>
            <a:ext cx="1950434" cy="6433"/>
          </a:xfrm>
          <a:prstGeom prst="line">
            <a:avLst/>
          </a:prstGeom>
        </p:spPr>
        <p:style>
          <a:lnRef idx="2">
            <a:schemeClr val="accent1"/>
          </a:lnRef>
          <a:fillRef idx="0">
            <a:schemeClr val="accent1"/>
          </a:fillRef>
          <a:effectRef idx="1">
            <a:schemeClr val="accent1"/>
          </a:effectRef>
          <a:fontRef idx="minor">
            <a:schemeClr val="tx1"/>
          </a:fontRef>
        </p:style>
      </p:cxnSp>
      <p:sp>
        <p:nvSpPr>
          <p:cNvPr id="25" name="楕円 24">
            <a:extLst>
              <a:ext uri="{FF2B5EF4-FFF2-40B4-BE49-F238E27FC236}">
                <a16:creationId xmlns:a16="http://schemas.microsoft.com/office/drawing/2014/main" id="{7FA5992E-3C11-B76F-7DDF-DD3564D9EC52}"/>
              </a:ext>
            </a:extLst>
          </p:cNvPr>
          <p:cNvSpPr/>
          <p:nvPr/>
        </p:nvSpPr>
        <p:spPr>
          <a:xfrm>
            <a:off x="3227385" y="2712605"/>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1C509CCF-C731-F23A-5C8F-EA7879836752}"/>
              </a:ext>
            </a:extLst>
          </p:cNvPr>
          <p:cNvSpPr/>
          <p:nvPr/>
        </p:nvSpPr>
        <p:spPr>
          <a:xfrm>
            <a:off x="8109069" y="2754730"/>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74BB3021-CF19-C624-F203-77A477EFB88B}"/>
              </a:ext>
            </a:extLst>
          </p:cNvPr>
          <p:cNvSpPr/>
          <p:nvPr/>
        </p:nvSpPr>
        <p:spPr>
          <a:xfrm>
            <a:off x="4782956" y="2754730"/>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C0EEC9D5-A0B4-7AA0-28BF-0456AEE14F65}"/>
              </a:ext>
            </a:extLst>
          </p:cNvPr>
          <p:cNvSpPr/>
          <p:nvPr/>
        </p:nvSpPr>
        <p:spPr>
          <a:xfrm>
            <a:off x="6591470" y="2773072"/>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cxnSp>
        <p:nvCxnSpPr>
          <p:cNvPr id="35" name="直線コネクタ 34">
            <a:extLst>
              <a:ext uri="{FF2B5EF4-FFF2-40B4-BE49-F238E27FC236}">
                <a16:creationId xmlns:a16="http://schemas.microsoft.com/office/drawing/2014/main" id="{EEA408D4-CC92-7E69-A3B7-02647C52EE12}"/>
              </a:ext>
            </a:extLst>
          </p:cNvPr>
          <p:cNvCxnSpPr>
            <a:cxnSpLocks/>
            <a:stCxn id="32" idx="6"/>
            <a:endCxn id="34" idx="2"/>
          </p:cNvCxnSpPr>
          <p:nvPr/>
        </p:nvCxnSpPr>
        <p:spPr>
          <a:xfrm>
            <a:off x="4951584" y="2842475"/>
            <a:ext cx="1639886" cy="18342"/>
          </a:xfrm>
          <a:prstGeom prst="line">
            <a:avLst/>
          </a:prstGeom>
        </p:spPr>
        <p:style>
          <a:lnRef idx="2">
            <a:schemeClr val="accent2"/>
          </a:lnRef>
          <a:fillRef idx="0">
            <a:schemeClr val="accent2"/>
          </a:fillRef>
          <a:effectRef idx="1">
            <a:schemeClr val="accent2"/>
          </a:effectRef>
          <a:fontRef idx="minor">
            <a:schemeClr val="tx1"/>
          </a:fontRef>
        </p:style>
      </p:cxnSp>
      <p:sp>
        <p:nvSpPr>
          <p:cNvPr id="39" name="テキスト ボックス 38">
            <a:extLst>
              <a:ext uri="{FF2B5EF4-FFF2-40B4-BE49-F238E27FC236}">
                <a16:creationId xmlns:a16="http://schemas.microsoft.com/office/drawing/2014/main" id="{6F6319E4-338A-1A00-A3B5-9F89137F001A}"/>
              </a:ext>
            </a:extLst>
          </p:cNvPr>
          <p:cNvSpPr txBox="1"/>
          <p:nvPr/>
        </p:nvSpPr>
        <p:spPr>
          <a:xfrm>
            <a:off x="3967429" y="1715326"/>
            <a:ext cx="1810111"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a:t>Interface</a:t>
            </a:r>
            <a:r>
              <a:rPr lang="ja-JP" altLang="en-US" dirty="0"/>
              <a:t> </a:t>
            </a:r>
            <a:r>
              <a:rPr lang="en-US" altLang="ja-JP" dirty="0"/>
              <a:t>1/1/3</a:t>
            </a:r>
          </a:p>
          <a:p>
            <a:r>
              <a:rPr kumimoji="1" lang="en-US" altLang="ja-JP" dirty="0" err="1"/>
              <a:t>Trunck</a:t>
            </a:r>
            <a:r>
              <a:rPr kumimoji="1" lang="en-US" altLang="ja-JP" dirty="0"/>
              <a:t> 100,200</a:t>
            </a:r>
          </a:p>
        </p:txBody>
      </p:sp>
      <p:sp>
        <p:nvSpPr>
          <p:cNvPr id="41" name="テキスト ボックス 40">
            <a:extLst>
              <a:ext uri="{FF2B5EF4-FFF2-40B4-BE49-F238E27FC236}">
                <a16:creationId xmlns:a16="http://schemas.microsoft.com/office/drawing/2014/main" id="{9DB87843-535D-1240-9C8A-C369C00467A6}"/>
              </a:ext>
            </a:extLst>
          </p:cNvPr>
          <p:cNvSpPr txBox="1"/>
          <p:nvPr/>
        </p:nvSpPr>
        <p:spPr>
          <a:xfrm>
            <a:off x="6319432" y="1690688"/>
            <a:ext cx="1818126"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ja-JP" dirty="0"/>
              <a:t>Interface</a:t>
            </a:r>
            <a:r>
              <a:rPr lang="ja-JP" altLang="en-US" dirty="0"/>
              <a:t> </a:t>
            </a:r>
            <a:r>
              <a:rPr lang="en-US" altLang="ja-JP" dirty="0"/>
              <a:t>1/1/3</a:t>
            </a:r>
          </a:p>
          <a:p>
            <a:r>
              <a:rPr lang="en-US" altLang="ja-JP" dirty="0" err="1"/>
              <a:t>Trunck</a:t>
            </a:r>
            <a:r>
              <a:rPr lang="en-US" altLang="ja-JP" dirty="0"/>
              <a:t> 100,200</a:t>
            </a:r>
          </a:p>
        </p:txBody>
      </p:sp>
      <p:sp>
        <p:nvSpPr>
          <p:cNvPr id="43" name="テキスト ボックス 42">
            <a:extLst>
              <a:ext uri="{FF2B5EF4-FFF2-40B4-BE49-F238E27FC236}">
                <a16:creationId xmlns:a16="http://schemas.microsoft.com/office/drawing/2014/main" id="{FA5B4BD7-BF8D-D0C2-A42F-A4D7490B66C7}"/>
              </a:ext>
            </a:extLst>
          </p:cNvPr>
          <p:cNvSpPr txBox="1"/>
          <p:nvPr/>
        </p:nvSpPr>
        <p:spPr>
          <a:xfrm>
            <a:off x="2503264" y="3176154"/>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10</a:t>
            </a:r>
            <a:endParaRPr kumimoji="1" lang="en-US" altLang="ja-JP" dirty="0"/>
          </a:p>
          <a:p>
            <a:r>
              <a:rPr lang="en-US" altLang="ja-JP" dirty="0"/>
              <a:t>IP:192.168.10.254</a:t>
            </a:r>
            <a:endParaRPr kumimoji="1" lang="ja-JP" altLang="en-US" dirty="0"/>
          </a:p>
        </p:txBody>
      </p:sp>
      <p:sp>
        <p:nvSpPr>
          <p:cNvPr id="45" name="テキスト ボックス 44">
            <a:extLst>
              <a:ext uri="{FF2B5EF4-FFF2-40B4-BE49-F238E27FC236}">
                <a16:creationId xmlns:a16="http://schemas.microsoft.com/office/drawing/2014/main" id="{41FF4B4B-5448-F139-04E5-6FE51978FD97}"/>
              </a:ext>
            </a:extLst>
          </p:cNvPr>
          <p:cNvSpPr txBox="1"/>
          <p:nvPr/>
        </p:nvSpPr>
        <p:spPr>
          <a:xfrm>
            <a:off x="7092533" y="3196321"/>
            <a:ext cx="2058577"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dirty="0" err="1"/>
              <a:t>Vlan</a:t>
            </a:r>
            <a:r>
              <a:rPr kumimoji="1" lang="en-US" altLang="ja-JP" dirty="0"/>
              <a:t> Interface</a:t>
            </a:r>
            <a:r>
              <a:rPr lang="ja-JP" altLang="en-US" dirty="0"/>
              <a:t> </a:t>
            </a:r>
            <a:r>
              <a:rPr lang="en-US" altLang="ja-JP" dirty="0"/>
              <a:t>10</a:t>
            </a:r>
            <a:endParaRPr kumimoji="1" lang="en-US" altLang="ja-JP" dirty="0"/>
          </a:p>
          <a:p>
            <a:r>
              <a:rPr lang="en-US" altLang="ja-JP" dirty="0"/>
              <a:t>IP:192.168.10.254</a:t>
            </a:r>
            <a:endParaRPr kumimoji="1" lang="ja-JP" altLang="en-US" dirty="0"/>
          </a:p>
        </p:txBody>
      </p:sp>
      <p:sp>
        <p:nvSpPr>
          <p:cNvPr id="13" name="楕円 12">
            <a:extLst>
              <a:ext uri="{FF2B5EF4-FFF2-40B4-BE49-F238E27FC236}">
                <a16:creationId xmlns:a16="http://schemas.microsoft.com/office/drawing/2014/main" id="{D18FEAA3-6425-D511-748F-0611D3CA18C9}"/>
              </a:ext>
            </a:extLst>
          </p:cNvPr>
          <p:cNvSpPr/>
          <p:nvPr/>
        </p:nvSpPr>
        <p:spPr>
          <a:xfrm>
            <a:off x="3984308" y="2800350"/>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8E0B8A39-2DCE-2ACE-043F-214A0712C38A}"/>
              </a:ext>
            </a:extLst>
          </p:cNvPr>
          <p:cNvSpPr/>
          <p:nvPr/>
        </p:nvSpPr>
        <p:spPr>
          <a:xfrm>
            <a:off x="7398059" y="2778457"/>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24EBF70F-B8D9-9580-6702-942353821CC5}"/>
              </a:ext>
            </a:extLst>
          </p:cNvPr>
          <p:cNvSpPr txBox="1"/>
          <p:nvPr/>
        </p:nvSpPr>
        <p:spPr>
          <a:xfrm>
            <a:off x="286313" y="4340781"/>
            <a:ext cx="2100255" cy="923330"/>
          </a:xfrm>
          <a:prstGeom prst="rect">
            <a:avLst/>
          </a:prstGeom>
          <a:noFill/>
        </p:spPr>
        <p:txBody>
          <a:bodyPr wrap="none" rtlCol="0">
            <a:spAutoFit/>
          </a:bodyPr>
          <a:lstStyle/>
          <a:p>
            <a:r>
              <a:rPr kumimoji="1" lang="en-US" altLang="ja-JP" dirty="0"/>
              <a:t>Ubuntu </a:t>
            </a:r>
            <a:r>
              <a:rPr kumimoji="1" lang="en-US" altLang="ja-JP" dirty="0" err="1"/>
              <a:t>ServerA</a:t>
            </a:r>
            <a:r>
              <a:rPr kumimoji="1" lang="ja-JP" altLang="en-US" dirty="0"/>
              <a:t>側</a:t>
            </a:r>
            <a:endParaRPr kumimoji="1" lang="en-US" altLang="ja-JP" dirty="0"/>
          </a:p>
          <a:p>
            <a:r>
              <a:rPr lang="ja-JP" altLang="en-US" dirty="0"/>
              <a:t>・</a:t>
            </a:r>
            <a:r>
              <a:rPr lang="en-US" altLang="ja-JP" dirty="0" err="1"/>
              <a:t>s</a:t>
            </a:r>
            <a:r>
              <a:rPr kumimoji="1" lang="en-US" altLang="ja-JP" dirty="0" err="1"/>
              <a:t>vlan</a:t>
            </a:r>
            <a:r>
              <a:rPr kumimoji="1" lang="en-US" altLang="ja-JP" dirty="0"/>
              <a:t> 100</a:t>
            </a:r>
            <a:endParaRPr lang="en-US" altLang="ja-JP" dirty="0"/>
          </a:p>
          <a:p>
            <a:r>
              <a:rPr lang="ja-JP" altLang="en-US" dirty="0"/>
              <a:t>・</a:t>
            </a:r>
            <a:r>
              <a:rPr lang="en-US" altLang="ja-JP" dirty="0" err="1"/>
              <a:t>cvlan</a:t>
            </a:r>
            <a:r>
              <a:rPr lang="en-US" altLang="ja-JP" dirty="0"/>
              <a:t> 10</a:t>
            </a:r>
          </a:p>
        </p:txBody>
      </p:sp>
      <p:sp>
        <p:nvSpPr>
          <p:cNvPr id="16" name="テキスト ボックス 15">
            <a:extLst>
              <a:ext uri="{FF2B5EF4-FFF2-40B4-BE49-F238E27FC236}">
                <a16:creationId xmlns:a16="http://schemas.microsoft.com/office/drawing/2014/main" id="{55F9CE1B-C819-6833-F105-055CCA97C4FC}"/>
              </a:ext>
            </a:extLst>
          </p:cNvPr>
          <p:cNvSpPr txBox="1"/>
          <p:nvPr/>
        </p:nvSpPr>
        <p:spPr>
          <a:xfrm>
            <a:off x="9837752" y="1399505"/>
            <a:ext cx="2108269" cy="923330"/>
          </a:xfrm>
          <a:prstGeom prst="rect">
            <a:avLst/>
          </a:prstGeom>
          <a:noFill/>
        </p:spPr>
        <p:txBody>
          <a:bodyPr wrap="none" rtlCol="0">
            <a:spAutoFit/>
          </a:bodyPr>
          <a:lstStyle/>
          <a:p>
            <a:r>
              <a:rPr kumimoji="1" lang="en-US" altLang="ja-JP" dirty="0"/>
              <a:t>Ubuntu </a:t>
            </a:r>
            <a:r>
              <a:rPr kumimoji="1" lang="en-US" altLang="ja-JP" dirty="0" err="1"/>
              <a:t>Server</a:t>
            </a:r>
            <a:r>
              <a:rPr lang="en-US" altLang="ja-JP" dirty="0" err="1"/>
              <a:t>B</a:t>
            </a:r>
            <a:r>
              <a:rPr kumimoji="1" lang="ja-JP" altLang="en-US" dirty="0"/>
              <a:t>側</a:t>
            </a:r>
            <a:endParaRPr kumimoji="1" lang="en-US" altLang="ja-JP" dirty="0"/>
          </a:p>
          <a:p>
            <a:r>
              <a:rPr lang="ja-JP" altLang="en-US" dirty="0"/>
              <a:t>・</a:t>
            </a:r>
            <a:r>
              <a:rPr lang="en-US" altLang="ja-JP" dirty="0" err="1"/>
              <a:t>s</a:t>
            </a:r>
            <a:r>
              <a:rPr kumimoji="1" lang="en-US" altLang="ja-JP" dirty="0" err="1"/>
              <a:t>vlan</a:t>
            </a:r>
            <a:r>
              <a:rPr kumimoji="1" lang="en-US" altLang="ja-JP" dirty="0"/>
              <a:t> 200</a:t>
            </a:r>
            <a:endParaRPr lang="en-US" altLang="ja-JP" dirty="0"/>
          </a:p>
          <a:p>
            <a:r>
              <a:rPr lang="ja-JP" altLang="en-US" dirty="0"/>
              <a:t>・</a:t>
            </a:r>
            <a:r>
              <a:rPr lang="en-US" altLang="ja-JP" dirty="0" err="1"/>
              <a:t>cvlan</a:t>
            </a:r>
            <a:r>
              <a:rPr lang="en-US" altLang="ja-JP" dirty="0"/>
              <a:t> 10</a:t>
            </a:r>
          </a:p>
        </p:txBody>
      </p:sp>
      <p:sp>
        <p:nvSpPr>
          <p:cNvPr id="14" name="テキスト ボックス 13">
            <a:extLst>
              <a:ext uri="{FF2B5EF4-FFF2-40B4-BE49-F238E27FC236}">
                <a16:creationId xmlns:a16="http://schemas.microsoft.com/office/drawing/2014/main" id="{058616AF-B620-2802-6AA5-F521BCDFF3EC}"/>
              </a:ext>
            </a:extLst>
          </p:cNvPr>
          <p:cNvSpPr txBox="1"/>
          <p:nvPr/>
        </p:nvSpPr>
        <p:spPr>
          <a:xfrm>
            <a:off x="166205" y="5569545"/>
            <a:ext cx="5795176" cy="923330"/>
          </a:xfrm>
          <a:prstGeom prst="rect">
            <a:avLst/>
          </a:prstGeom>
          <a:noFill/>
        </p:spPr>
        <p:txBody>
          <a:bodyPr wrap="none" rtlCol="0">
            <a:spAutoFit/>
          </a:bodyPr>
          <a:lstStyle/>
          <a:p>
            <a:r>
              <a:rPr kumimoji="1" lang="ja-JP" altLang="en-US" dirty="0"/>
              <a:t>動かない。。。。</a:t>
            </a:r>
            <a:endParaRPr kumimoji="1" lang="en-US" altLang="ja-JP" dirty="0"/>
          </a:p>
          <a:p>
            <a:r>
              <a:rPr lang="ja-JP" altLang="en-US" dirty="0"/>
              <a:t>どうやら、お客さん側のエッジスイッチと</a:t>
            </a:r>
            <a:r>
              <a:rPr lang="en-US" altLang="ja-JP" dirty="0" err="1"/>
              <a:t>QinQ</a:t>
            </a:r>
            <a:r>
              <a:rPr lang="ja-JP" altLang="en-US" dirty="0"/>
              <a:t>タグを</a:t>
            </a:r>
            <a:endParaRPr lang="en-US" altLang="ja-JP" dirty="0"/>
          </a:p>
          <a:p>
            <a:r>
              <a:rPr lang="ja-JP" altLang="en-US" dirty="0"/>
              <a:t>制御するプロバイダースイッチが</a:t>
            </a:r>
            <a:r>
              <a:rPr kumimoji="1" lang="ja-JP" altLang="en-US" dirty="0"/>
              <a:t>必要らしい</a:t>
            </a:r>
          </a:p>
        </p:txBody>
      </p:sp>
      <p:pic>
        <p:nvPicPr>
          <p:cNvPr id="23" name="図 22">
            <a:extLst>
              <a:ext uri="{FF2B5EF4-FFF2-40B4-BE49-F238E27FC236}">
                <a16:creationId xmlns:a16="http://schemas.microsoft.com/office/drawing/2014/main" id="{77C97682-9026-3E71-8CB3-80125C95DB30}"/>
              </a:ext>
            </a:extLst>
          </p:cNvPr>
          <p:cNvPicPr>
            <a:picLocks noChangeAspect="1"/>
          </p:cNvPicPr>
          <p:nvPr/>
        </p:nvPicPr>
        <p:blipFill>
          <a:blip r:embed="rId4"/>
          <a:stretch>
            <a:fillRect/>
          </a:stretch>
        </p:blipFill>
        <p:spPr>
          <a:xfrm>
            <a:off x="6295199" y="3713115"/>
            <a:ext cx="4968545" cy="3144885"/>
          </a:xfrm>
          <a:prstGeom prst="rect">
            <a:avLst/>
          </a:prstGeom>
        </p:spPr>
      </p:pic>
      <p:sp>
        <p:nvSpPr>
          <p:cNvPr id="24" name="吹き出し: 角を丸めた四角形 23">
            <a:extLst>
              <a:ext uri="{FF2B5EF4-FFF2-40B4-BE49-F238E27FC236}">
                <a16:creationId xmlns:a16="http://schemas.microsoft.com/office/drawing/2014/main" id="{0A6BC64D-5058-EAAC-EB04-D1FE58BA7DF6}"/>
              </a:ext>
            </a:extLst>
          </p:cNvPr>
          <p:cNvSpPr/>
          <p:nvPr/>
        </p:nvSpPr>
        <p:spPr>
          <a:xfrm>
            <a:off x="8137558" y="4108752"/>
            <a:ext cx="1686341" cy="454011"/>
          </a:xfrm>
          <a:prstGeom prst="wedgeRoundRectCallout">
            <a:avLst>
              <a:gd name="adj1" fmla="val -54300"/>
              <a:gd name="adj2" fmla="val 22464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900" dirty="0"/>
              <a:t>この</a:t>
            </a:r>
            <a:r>
              <a:rPr kumimoji="1" lang="en-US" altLang="ja-JP" sz="900" dirty="0"/>
              <a:t>Port</a:t>
            </a:r>
            <a:r>
              <a:rPr kumimoji="1" lang="ja-JP" altLang="en-US" sz="900" dirty="0"/>
              <a:t>から入ってきたものをトンネル用のタグをつける</a:t>
            </a:r>
          </a:p>
        </p:txBody>
      </p:sp>
      <p:sp>
        <p:nvSpPr>
          <p:cNvPr id="27" name="吹き出し: 角を丸めた四角形 26">
            <a:extLst>
              <a:ext uri="{FF2B5EF4-FFF2-40B4-BE49-F238E27FC236}">
                <a16:creationId xmlns:a16="http://schemas.microsoft.com/office/drawing/2014/main" id="{504F299F-102E-EDF2-813A-4121CE7A18D1}"/>
              </a:ext>
            </a:extLst>
          </p:cNvPr>
          <p:cNvSpPr/>
          <p:nvPr/>
        </p:nvSpPr>
        <p:spPr>
          <a:xfrm>
            <a:off x="8193383" y="6265869"/>
            <a:ext cx="1686341" cy="454011"/>
          </a:xfrm>
          <a:prstGeom prst="wedgeRoundRectCallout">
            <a:avLst>
              <a:gd name="adj1" fmla="val -36226"/>
              <a:gd name="adj2" fmla="val -194438"/>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900" dirty="0"/>
              <a:t>タグが付いているパケットをトンネルする</a:t>
            </a:r>
          </a:p>
        </p:txBody>
      </p:sp>
      <p:cxnSp>
        <p:nvCxnSpPr>
          <p:cNvPr id="30" name="直線コネクタ 29">
            <a:extLst>
              <a:ext uri="{FF2B5EF4-FFF2-40B4-BE49-F238E27FC236}">
                <a16:creationId xmlns:a16="http://schemas.microsoft.com/office/drawing/2014/main" id="{CDA0356B-8550-5282-BF3D-5F5C084EFBAC}"/>
              </a:ext>
            </a:extLst>
          </p:cNvPr>
          <p:cNvCxnSpPr/>
          <p:nvPr/>
        </p:nvCxnSpPr>
        <p:spPr>
          <a:xfrm>
            <a:off x="8460509" y="5477181"/>
            <a:ext cx="690601" cy="0"/>
          </a:xfrm>
          <a:prstGeom prst="line">
            <a:avLst/>
          </a:prstGeom>
        </p:spPr>
        <p:style>
          <a:lnRef idx="2">
            <a:schemeClr val="accent2"/>
          </a:lnRef>
          <a:fillRef idx="0">
            <a:schemeClr val="accent2"/>
          </a:fillRef>
          <a:effectRef idx="1">
            <a:schemeClr val="accent2"/>
          </a:effectRef>
          <a:fontRef idx="minor">
            <a:schemeClr val="tx1"/>
          </a:fontRef>
        </p:style>
      </p:cxnSp>
      <p:sp>
        <p:nvSpPr>
          <p:cNvPr id="33" name="楕円 32">
            <a:extLst>
              <a:ext uri="{FF2B5EF4-FFF2-40B4-BE49-F238E27FC236}">
                <a16:creationId xmlns:a16="http://schemas.microsoft.com/office/drawing/2014/main" id="{0B9891D1-DB4B-9311-A172-581F3A26EA89}"/>
              </a:ext>
            </a:extLst>
          </p:cNvPr>
          <p:cNvSpPr/>
          <p:nvPr/>
        </p:nvSpPr>
        <p:spPr>
          <a:xfrm>
            <a:off x="8376195" y="5415061"/>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2A533815-14DF-6549-4D59-7184192E9A75}"/>
              </a:ext>
            </a:extLst>
          </p:cNvPr>
          <p:cNvSpPr/>
          <p:nvPr/>
        </p:nvSpPr>
        <p:spPr>
          <a:xfrm>
            <a:off x="9108672" y="5415061"/>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3FCFFD4D-DDBA-072F-0720-86CE6295C075}"/>
              </a:ext>
            </a:extLst>
          </p:cNvPr>
          <p:cNvSpPr/>
          <p:nvPr/>
        </p:nvSpPr>
        <p:spPr>
          <a:xfrm>
            <a:off x="7953193" y="5327316"/>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4" name="グラフィックス 43" descr="コンピューター 単色塗りつぶし">
            <a:extLst>
              <a:ext uri="{FF2B5EF4-FFF2-40B4-BE49-F238E27FC236}">
                <a16:creationId xmlns:a16="http://schemas.microsoft.com/office/drawing/2014/main" id="{82C7E524-835A-E517-5C46-FCECCE3BA3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5500" y="2495550"/>
            <a:ext cx="914400" cy="914400"/>
          </a:xfrm>
          <a:prstGeom prst="rect">
            <a:avLst/>
          </a:prstGeom>
        </p:spPr>
      </p:pic>
      <p:pic>
        <p:nvPicPr>
          <p:cNvPr id="47" name="グラフィックス 46" descr="コンピューター 単色塗りつぶし">
            <a:extLst>
              <a:ext uri="{FF2B5EF4-FFF2-40B4-BE49-F238E27FC236}">
                <a16:creationId xmlns:a16="http://schemas.microsoft.com/office/drawing/2014/main" id="{C51866CA-F1C5-C89D-DCF2-EB5CD87FB8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149" y="4743012"/>
            <a:ext cx="429757" cy="429757"/>
          </a:xfrm>
          <a:prstGeom prst="rect">
            <a:avLst/>
          </a:prstGeom>
        </p:spPr>
      </p:pic>
      <p:pic>
        <p:nvPicPr>
          <p:cNvPr id="49" name="グラフィックス 48" descr="コンピューター 単色塗りつぶし">
            <a:extLst>
              <a:ext uri="{FF2B5EF4-FFF2-40B4-BE49-F238E27FC236}">
                <a16:creationId xmlns:a16="http://schemas.microsoft.com/office/drawing/2014/main" id="{6FE38B99-803A-A7D8-E5AE-2F2F2694804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56648" y="4511644"/>
            <a:ext cx="429757" cy="429757"/>
          </a:xfrm>
          <a:prstGeom prst="rect">
            <a:avLst/>
          </a:prstGeom>
        </p:spPr>
      </p:pic>
      <p:pic>
        <p:nvPicPr>
          <p:cNvPr id="51" name="グラフィックス 50" descr="コンピューター 単色塗りつぶし">
            <a:extLst>
              <a:ext uri="{FF2B5EF4-FFF2-40B4-BE49-F238E27FC236}">
                <a16:creationId xmlns:a16="http://schemas.microsoft.com/office/drawing/2014/main" id="{BD6A3198-E366-7C25-282B-06A0B8689E2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33003" y="4802446"/>
            <a:ext cx="429757" cy="429757"/>
          </a:xfrm>
          <a:prstGeom prst="rect">
            <a:avLst/>
          </a:prstGeom>
        </p:spPr>
      </p:pic>
      <p:cxnSp>
        <p:nvCxnSpPr>
          <p:cNvPr id="52" name="直線コネクタ 51">
            <a:extLst>
              <a:ext uri="{FF2B5EF4-FFF2-40B4-BE49-F238E27FC236}">
                <a16:creationId xmlns:a16="http://schemas.microsoft.com/office/drawing/2014/main" id="{355FFCE1-CC25-EB9C-E99A-B18121D6BBF6}"/>
              </a:ext>
            </a:extLst>
          </p:cNvPr>
          <p:cNvCxnSpPr>
            <a:cxnSpLocks/>
            <a:stCxn id="47" idx="3"/>
          </p:cNvCxnSpPr>
          <p:nvPr/>
        </p:nvCxnSpPr>
        <p:spPr>
          <a:xfrm>
            <a:off x="6224906" y="4957891"/>
            <a:ext cx="508307" cy="112494"/>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4444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E3644D-A8ED-3F86-7DE0-078FB70A333A}"/>
              </a:ext>
            </a:extLst>
          </p:cNvPr>
          <p:cNvSpPr>
            <a:spLocks noGrp="1"/>
          </p:cNvSpPr>
          <p:nvPr>
            <p:ph type="title"/>
          </p:nvPr>
        </p:nvSpPr>
        <p:spPr/>
        <p:txBody>
          <a:bodyPr/>
          <a:lstStyle/>
          <a:p>
            <a:r>
              <a:rPr lang="en-US" altLang="ja-JP" dirty="0"/>
              <a:t>Step3</a:t>
            </a:r>
            <a:r>
              <a:rPr lang="ja-JP" altLang="en-US" dirty="0"/>
              <a:t>　スイッチを使った</a:t>
            </a:r>
            <a:r>
              <a:rPr lang="en-US" altLang="ja-JP" dirty="0" err="1"/>
              <a:t>QinQ</a:t>
            </a:r>
            <a:r>
              <a:rPr lang="ja-JP" altLang="en-US" dirty="0"/>
              <a:t>環境構築</a:t>
            </a:r>
            <a:endParaRPr kumimoji="1" lang="ja-JP" altLang="en-US" dirty="0"/>
          </a:p>
        </p:txBody>
      </p:sp>
      <p:pic>
        <p:nvPicPr>
          <p:cNvPr id="4" name="グラフィックス 3" descr="コンピューター 単色塗りつぶし">
            <a:extLst>
              <a:ext uri="{FF2B5EF4-FFF2-40B4-BE49-F238E27FC236}">
                <a16:creationId xmlns:a16="http://schemas.microsoft.com/office/drawing/2014/main" id="{AB2AA03A-9528-7ABB-D48A-6C6547413A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49344" y="2343150"/>
            <a:ext cx="914400" cy="914400"/>
          </a:xfrm>
          <a:prstGeom prst="rect">
            <a:avLst/>
          </a:prstGeom>
        </p:spPr>
      </p:pic>
      <p:pic>
        <p:nvPicPr>
          <p:cNvPr id="5" name="グラフィックス 4" descr="コンピューター 単色塗りつぶし">
            <a:extLst>
              <a:ext uri="{FF2B5EF4-FFF2-40B4-BE49-F238E27FC236}">
                <a16:creationId xmlns:a16="http://schemas.microsoft.com/office/drawing/2014/main" id="{E35D9BC5-4EA4-F98B-4C32-BEE886F8743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3100" y="2343150"/>
            <a:ext cx="914400" cy="914400"/>
          </a:xfrm>
          <a:prstGeom prst="rect">
            <a:avLst/>
          </a:prstGeom>
        </p:spPr>
      </p:pic>
      <p:cxnSp>
        <p:nvCxnSpPr>
          <p:cNvPr id="6" name="直線コネクタ 5">
            <a:extLst>
              <a:ext uri="{FF2B5EF4-FFF2-40B4-BE49-F238E27FC236}">
                <a16:creationId xmlns:a16="http://schemas.microsoft.com/office/drawing/2014/main" id="{8BDAC7EB-657A-D255-F481-DFF284D947CB}"/>
              </a:ext>
            </a:extLst>
          </p:cNvPr>
          <p:cNvCxnSpPr>
            <a:cxnSpLocks/>
            <a:stCxn id="11" idx="6"/>
            <a:endCxn id="16" idx="2"/>
          </p:cNvCxnSpPr>
          <p:nvPr/>
        </p:nvCxnSpPr>
        <p:spPr>
          <a:xfrm>
            <a:off x="1708713" y="2836042"/>
            <a:ext cx="833968"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EFD09593-05E3-6221-8E9F-459DDCFD650D}"/>
              </a:ext>
            </a:extLst>
          </p:cNvPr>
          <p:cNvSpPr txBox="1"/>
          <p:nvPr/>
        </p:nvSpPr>
        <p:spPr>
          <a:xfrm>
            <a:off x="200827" y="2147888"/>
            <a:ext cx="1935145" cy="369332"/>
          </a:xfrm>
          <a:prstGeom prst="rect">
            <a:avLst/>
          </a:prstGeom>
          <a:noFill/>
        </p:spPr>
        <p:txBody>
          <a:bodyPr wrap="none" rtlCol="0">
            <a:spAutoFit/>
          </a:bodyPr>
          <a:lstStyle/>
          <a:p>
            <a:r>
              <a:rPr kumimoji="1" lang="en-US" altLang="ja-JP" dirty="0"/>
              <a:t>Ubuntu Server A</a:t>
            </a:r>
            <a:endParaRPr kumimoji="1" lang="ja-JP" altLang="en-US" dirty="0"/>
          </a:p>
        </p:txBody>
      </p:sp>
      <p:sp>
        <p:nvSpPr>
          <p:cNvPr id="8" name="テキスト ボックス 7">
            <a:extLst>
              <a:ext uri="{FF2B5EF4-FFF2-40B4-BE49-F238E27FC236}">
                <a16:creationId xmlns:a16="http://schemas.microsoft.com/office/drawing/2014/main" id="{6BC6FE4E-74AC-EE91-DC80-B2F0E8770655}"/>
              </a:ext>
            </a:extLst>
          </p:cNvPr>
          <p:cNvSpPr txBox="1"/>
          <p:nvPr/>
        </p:nvSpPr>
        <p:spPr>
          <a:xfrm>
            <a:off x="9823899" y="2158484"/>
            <a:ext cx="1943161" cy="369332"/>
          </a:xfrm>
          <a:prstGeom prst="rect">
            <a:avLst/>
          </a:prstGeom>
          <a:noFill/>
        </p:spPr>
        <p:txBody>
          <a:bodyPr wrap="none" rtlCol="0">
            <a:spAutoFit/>
          </a:bodyPr>
          <a:lstStyle/>
          <a:p>
            <a:r>
              <a:rPr kumimoji="1" lang="en-US" altLang="ja-JP" dirty="0"/>
              <a:t>Ubuntu Server B</a:t>
            </a:r>
            <a:endParaRPr kumimoji="1" lang="ja-JP" altLang="en-US" dirty="0"/>
          </a:p>
        </p:txBody>
      </p:sp>
      <p:sp>
        <p:nvSpPr>
          <p:cNvPr id="11" name="楕円 10">
            <a:extLst>
              <a:ext uri="{FF2B5EF4-FFF2-40B4-BE49-F238E27FC236}">
                <a16:creationId xmlns:a16="http://schemas.microsoft.com/office/drawing/2014/main" id="{D9A67406-4F74-52A4-277C-69B34ECD79D5}"/>
              </a:ext>
            </a:extLst>
          </p:cNvPr>
          <p:cNvSpPr/>
          <p:nvPr/>
        </p:nvSpPr>
        <p:spPr>
          <a:xfrm>
            <a:off x="1540085" y="274829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B784FA8A-904C-956E-B526-C0FBA8CB4E9A}"/>
              </a:ext>
            </a:extLst>
          </p:cNvPr>
          <p:cNvSpPr/>
          <p:nvPr/>
        </p:nvSpPr>
        <p:spPr>
          <a:xfrm>
            <a:off x="10228131" y="273295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a:extLst>
              <a:ext uri="{FF2B5EF4-FFF2-40B4-BE49-F238E27FC236}">
                <a16:creationId xmlns:a16="http://schemas.microsoft.com/office/drawing/2014/main" id="{B16769E0-B710-F5C0-BA1E-9E9751EAE58D}"/>
              </a:ext>
            </a:extLst>
          </p:cNvPr>
          <p:cNvPicPr>
            <a:picLocks noChangeAspect="1"/>
          </p:cNvPicPr>
          <p:nvPr/>
        </p:nvPicPr>
        <p:blipFill>
          <a:blip r:embed="rId3"/>
          <a:stretch>
            <a:fillRect/>
          </a:stretch>
        </p:blipFill>
        <p:spPr>
          <a:xfrm>
            <a:off x="2529639" y="2370956"/>
            <a:ext cx="2402959" cy="724001"/>
          </a:xfrm>
          <a:prstGeom prst="rect">
            <a:avLst/>
          </a:prstGeom>
        </p:spPr>
      </p:pic>
      <p:pic>
        <p:nvPicPr>
          <p:cNvPr id="14" name="図 13">
            <a:extLst>
              <a:ext uri="{FF2B5EF4-FFF2-40B4-BE49-F238E27FC236}">
                <a16:creationId xmlns:a16="http://schemas.microsoft.com/office/drawing/2014/main" id="{530BD159-592E-09BB-CA05-873D606EB3D4}"/>
              </a:ext>
            </a:extLst>
          </p:cNvPr>
          <p:cNvPicPr>
            <a:picLocks noChangeAspect="1"/>
          </p:cNvPicPr>
          <p:nvPr/>
        </p:nvPicPr>
        <p:blipFill>
          <a:blip r:embed="rId3"/>
          <a:stretch>
            <a:fillRect/>
          </a:stretch>
        </p:blipFill>
        <p:spPr>
          <a:xfrm>
            <a:off x="6572484" y="2386296"/>
            <a:ext cx="2702943" cy="724001"/>
          </a:xfrm>
          <a:prstGeom prst="rect">
            <a:avLst/>
          </a:prstGeom>
        </p:spPr>
      </p:pic>
      <p:cxnSp>
        <p:nvCxnSpPr>
          <p:cNvPr id="15" name="直線コネクタ 14">
            <a:extLst>
              <a:ext uri="{FF2B5EF4-FFF2-40B4-BE49-F238E27FC236}">
                <a16:creationId xmlns:a16="http://schemas.microsoft.com/office/drawing/2014/main" id="{B8BDE363-D050-5E6A-8AD5-64D1612A400F}"/>
              </a:ext>
            </a:extLst>
          </p:cNvPr>
          <p:cNvCxnSpPr>
            <a:cxnSpLocks/>
            <a:stCxn id="17" idx="6"/>
            <a:endCxn id="12" idx="2"/>
          </p:cNvCxnSpPr>
          <p:nvPr/>
        </p:nvCxnSpPr>
        <p:spPr>
          <a:xfrm flipV="1">
            <a:off x="9202423" y="2820702"/>
            <a:ext cx="1025708" cy="49143"/>
          </a:xfrm>
          <a:prstGeom prst="line">
            <a:avLst/>
          </a:prstGeom>
        </p:spPr>
        <p:style>
          <a:lnRef idx="2">
            <a:schemeClr val="accent1"/>
          </a:lnRef>
          <a:fillRef idx="0">
            <a:schemeClr val="accent1"/>
          </a:fillRef>
          <a:effectRef idx="1">
            <a:schemeClr val="accent1"/>
          </a:effectRef>
          <a:fontRef idx="minor">
            <a:schemeClr val="tx1"/>
          </a:fontRef>
        </p:style>
      </p:cxnSp>
      <p:sp>
        <p:nvSpPr>
          <p:cNvPr id="16" name="楕円 15">
            <a:extLst>
              <a:ext uri="{FF2B5EF4-FFF2-40B4-BE49-F238E27FC236}">
                <a16:creationId xmlns:a16="http://schemas.microsoft.com/office/drawing/2014/main" id="{06253256-E704-7B57-EF0C-F672926256FE}"/>
              </a:ext>
            </a:extLst>
          </p:cNvPr>
          <p:cNvSpPr/>
          <p:nvPr/>
        </p:nvSpPr>
        <p:spPr>
          <a:xfrm>
            <a:off x="2542681" y="274829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097BBD33-BFC3-DE90-1E65-24C5AD00FC7C}"/>
              </a:ext>
            </a:extLst>
          </p:cNvPr>
          <p:cNvSpPr/>
          <p:nvPr/>
        </p:nvSpPr>
        <p:spPr>
          <a:xfrm>
            <a:off x="9033795" y="2782100"/>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E8B4F751-795F-A307-F8C4-23E9F7F672C8}"/>
              </a:ext>
            </a:extLst>
          </p:cNvPr>
          <p:cNvSpPr/>
          <p:nvPr/>
        </p:nvSpPr>
        <p:spPr>
          <a:xfrm>
            <a:off x="4782956" y="2754730"/>
            <a:ext cx="168628" cy="175490"/>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FBC64105-A04E-D80E-7652-EEC5FE019639}"/>
              </a:ext>
            </a:extLst>
          </p:cNvPr>
          <p:cNvSpPr/>
          <p:nvPr/>
        </p:nvSpPr>
        <p:spPr>
          <a:xfrm>
            <a:off x="6591470" y="2773072"/>
            <a:ext cx="168628" cy="175490"/>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DF804548-662A-4966-2FD5-944D01E97828}"/>
              </a:ext>
            </a:extLst>
          </p:cNvPr>
          <p:cNvCxnSpPr>
            <a:cxnSpLocks/>
            <a:stCxn id="18" idx="6"/>
            <a:endCxn id="19" idx="2"/>
          </p:cNvCxnSpPr>
          <p:nvPr/>
        </p:nvCxnSpPr>
        <p:spPr>
          <a:xfrm>
            <a:off x="4951584" y="2842475"/>
            <a:ext cx="1639886" cy="18342"/>
          </a:xfrm>
          <a:prstGeom prst="line">
            <a:avLst/>
          </a:prstGeom>
        </p:spPr>
        <p:style>
          <a:lnRef idx="2">
            <a:schemeClr val="accent5"/>
          </a:lnRef>
          <a:fillRef idx="0">
            <a:schemeClr val="accent5"/>
          </a:fillRef>
          <a:effectRef idx="1">
            <a:schemeClr val="accent5"/>
          </a:effectRef>
          <a:fontRef idx="minor">
            <a:schemeClr val="tx1"/>
          </a:fontRef>
        </p:style>
      </p:cxnSp>
      <p:sp>
        <p:nvSpPr>
          <p:cNvPr id="25" name="楕円 24">
            <a:extLst>
              <a:ext uri="{FF2B5EF4-FFF2-40B4-BE49-F238E27FC236}">
                <a16:creationId xmlns:a16="http://schemas.microsoft.com/office/drawing/2014/main" id="{4A0F2A1D-A618-3FE7-08CF-3AE7F85286A5}"/>
              </a:ext>
            </a:extLst>
          </p:cNvPr>
          <p:cNvSpPr/>
          <p:nvPr/>
        </p:nvSpPr>
        <p:spPr>
          <a:xfrm>
            <a:off x="3517898" y="2820702"/>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4697CF5E-E905-4863-C4B7-265B87BAAEAF}"/>
              </a:ext>
            </a:extLst>
          </p:cNvPr>
          <p:cNvSpPr/>
          <p:nvPr/>
        </p:nvSpPr>
        <p:spPr>
          <a:xfrm>
            <a:off x="7171527" y="2782100"/>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35" name="楕円 34">
            <a:extLst>
              <a:ext uri="{FF2B5EF4-FFF2-40B4-BE49-F238E27FC236}">
                <a16:creationId xmlns:a16="http://schemas.microsoft.com/office/drawing/2014/main" id="{D2DE1527-A807-8084-E4D2-E723C3687B1B}"/>
              </a:ext>
            </a:extLst>
          </p:cNvPr>
          <p:cNvSpPr/>
          <p:nvPr/>
        </p:nvSpPr>
        <p:spPr>
          <a:xfrm>
            <a:off x="3985735" y="2820702"/>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DBF8C148-4239-46E2-CE19-CD93A5F11D05}"/>
              </a:ext>
            </a:extLst>
          </p:cNvPr>
          <p:cNvSpPr/>
          <p:nvPr/>
        </p:nvSpPr>
        <p:spPr>
          <a:xfrm>
            <a:off x="7749701" y="2773072"/>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cxnSp>
        <p:nvCxnSpPr>
          <p:cNvPr id="46" name="コネクタ: カギ線 45">
            <a:extLst>
              <a:ext uri="{FF2B5EF4-FFF2-40B4-BE49-F238E27FC236}">
                <a16:creationId xmlns:a16="http://schemas.microsoft.com/office/drawing/2014/main" id="{9E86BB8C-BD0E-1C44-4140-9873E55F67C1}"/>
              </a:ext>
            </a:extLst>
          </p:cNvPr>
          <p:cNvCxnSpPr>
            <a:stCxn id="25" idx="4"/>
            <a:endCxn id="35" idx="4"/>
          </p:cNvCxnSpPr>
          <p:nvPr/>
        </p:nvCxnSpPr>
        <p:spPr>
          <a:xfrm rot="16200000" flipH="1">
            <a:off x="3836130" y="2762273"/>
            <a:ext cx="12700" cy="467837"/>
          </a:xfrm>
          <a:prstGeom prst="bentConnector3">
            <a:avLst>
              <a:gd name="adj1" fmla="val 4054543"/>
            </a:avLst>
          </a:prstGeom>
        </p:spPr>
        <p:style>
          <a:lnRef idx="2">
            <a:schemeClr val="accent6"/>
          </a:lnRef>
          <a:fillRef idx="0">
            <a:schemeClr val="accent6"/>
          </a:fillRef>
          <a:effectRef idx="1">
            <a:schemeClr val="accent6"/>
          </a:effectRef>
          <a:fontRef idx="minor">
            <a:schemeClr val="tx1"/>
          </a:fontRef>
        </p:style>
      </p:cxnSp>
      <p:cxnSp>
        <p:nvCxnSpPr>
          <p:cNvPr id="48" name="コネクタ: カギ線 47">
            <a:extLst>
              <a:ext uri="{FF2B5EF4-FFF2-40B4-BE49-F238E27FC236}">
                <a16:creationId xmlns:a16="http://schemas.microsoft.com/office/drawing/2014/main" id="{A7962D67-E771-6387-E68F-3DCAF6F16163}"/>
              </a:ext>
            </a:extLst>
          </p:cNvPr>
          <p:cNvCxnSpPr>
            <a:cxnSpLocks/>
            <a:stCxn id="26" idx="4"/>
            <a:endCxn id="44" idx="4"/>
          </p:cNvCxnSpPr>
          <p:nvPr/>
        </p:nvCxnSpPr>
        <p:spPr>
          <a:xfrm rot="5400000" flipH="1" flipV="1">
            <a:off x="7540414" y="2663989"/>
            <a:ext cx="9028" cy="578174"/>
          </a:xfrm>
          <a:prstGeom prst="bentConnector3">
            <a:avLst>
              <a:gd name="adj1" fmla="val -6829054"/>
            </a:avLst>
          </a:prstGeom>
        </p:spPr>
        <p:style>
          <a:lnRef idx="2">
            <a:schemeClr val="accent6"/>
          </a:lnRef>
          <a:fillRef idx="0">
            <a:schemeClr val="accent6"/>
          </a:fillRef>
          <a:effectRef idx="1">
            <a:schemeClr val="accent6"/>
          </a:effectRef>
          <a:fontRef idx="minor">
            <a:schemeClr val="tx1"/>
          </a:fontRef>
        </p:style>
      </p:cxnSp>
      <p:sp>
        <p:nvSpPr>
          <p:cNvPr id="69" name="テキスト ボックス 68">
            <a:extLst>
              <a:ext uri="{FF2B5EF4-FFF2-40B4-BE49-F238E27FC236}">
                <a16:creationId xmlns:a16="http://schemas.microsoft.com/office/drawing/2014/main" id="{A7445E23-3631-5481-B78C-5922EA1B55AF}"/>
              </a:ext>
            </a:extLst>
          </p:cNvPr>
          <p:cNvSpPr txBox="1"/>
          <p:nvPr/>
        </p:nvSpPr>
        <p:spPr>
          <a:xfrm>
            <a:off x="2425774" y="2093957"/>
            <a:ext cx="720069" cy="55399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ja-JP" sz="1000" b="1" dirty="0"/>
              <a:t>1/1/1</a:t>
            </a:r>
          </a:p>
          <a:p>
            <a:r>
              <a:rPr lang="ja-JP" altLang="en-US" sz="1000" b="1" dirty="0"/>
              <a:t>通常</a:t>
            </a:r>
            <a:r>
              <a:rPr lang="en-US" altLang="ja-JP" sz="1000" b="1" dirty="0" err="1"/>
              <a:t>Vlan</a:t>
            </a:r>
            <a:endParaRPr lang="en-US" altLang="ja-JP" sz="1000" b="1" dirty="0"/>
          </a:p>
          <a:p>
            <a:r>
              <a:rPr lang="ja-JP" altLang="en-US" sz="1000" b="1" dirty="0"/>
              <a:t>ポート</a:t>
            </a:r>
            <a:endParaRPr kumimoji="1" lang="ja-JP" altLang="en-US" sz="1000" b="1" dirty="0"/>
          </a:p>
        </p:txBody>
      </p:sp>
      <p:sp>
        <p:nvSpPr>
          <p:cNvPr id="71" name="テキスト ボックス 70">
            <a:extLst>
              <a:ext uri="{FF2B5EF4-FFF2-40B4-BE49-F238E27FC236}">
                <a16:creationId xmlns:a16="http://schemas.microsoft.com/office/drawing/2014/main" id="{31D33A18-409C-F7CE-F2DF-2E86979A4EE4}"/>
              </a:ext>
            </a:extLst>
          </p:cNvPr>
          <p:cNvSpPr txBox="1"/>
          <p:nvPr/>
        </p:nvSpPr>
        <p:spPr>
          <a:xfrm>
            <a:off x="4152540" y="3110297"/>
            <a:ext cx="1210588" cy="553998"/>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altLang="ja-JP" sz="1000" b="1" dirty="0"/>
              <a:t>1/1/12</a:t>
            </a:r>
          </a:p>
          <a:p>
            <a:r>
              <a:rPr lang="en-US" altLang="ja-JP" sz="1000" b="1" dirty="0" err="1"/>
              <a:t>SVlan</a:t>
            </a:r>
            <a:endParaRPr lang="en-US" altLang="ja-JP" sz="1000" b="1" dirty="0"/>
          </a:p>
          <a:p>
            <a:r>
              <a:rPr lang="ja-JP" altLang="en-US" sz="1000" b="1" dirty="0"/>
              <a:t>カスタマーポート</a:t>
            </a:r>
            <a:endParaRPr kumimoji="1" lang="ja-JP" altLang="en-US" sz="1000" b="1" dirty="0"/>
          </a:p>
        </p:txBody>
      </p:sp>
      <p:sp>
        <p:nvSpPr>
          <p:cNvPr id="73" name="テキスト ボックス 72">
            <a:extLst>
              <a:ext uri="{FF2B5EF4-FFF2-40B4-BE49-F238E27FC236}">
                <a16:creationId xmlns:a16="http://schemas.microsoft.com/office/drawing/2014/main" id="{6B43FAFF-0C3E-CEE6-7CB1-2D30DA1F96C3}"/>
              </a:ext>
            </a:extLst>
          </p:cNvPr>
          <p:cNvSpPr txBox="1"/>
          <p:nvPr/>
        </p:nvSpPr>
        <p:spPr>
          <a:xfrm>
            <a:off x="3311253" y="2109297"/>
            <a:ext cx="720069" cy="553998"/>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altLang="ja-JP" sz="1000" b="1" dirty="0"/>
              <a:t>1/1/11</a:t>
            </a:r>
          </a:p>
          <a:p>
            <a:r>
              <a:rPr lang="ja-JP" altLang="en-US" sz="1000" b="1" dirty="0"/>
              <a:t>通常</a:t>
            </a:r>
            <a:r>
              <a:rPr lang="en-US" altLang="ja-JP" sz="1000" b="1" dirty="0" err="1"/>
              <a:t>Vlan</a:t>
            </a:r>
            <a:endParaRPr lang="en-US" altLang="ja-JP" sz="1000" b="1" dirty="0"/>
          </a:p>
          <a:p>
            <a:r>
              <a:rPr lang="ja-JP" altLang="en-US" sz="1000" b="1" dirty="0"/>
              <a:t>ポート</a:t>
            </a:r>
            <a:endParaRPr kumimoji="1" lang="ja-JP" altLang="en-US" sz="1000" b="1" dirty="0"/>
          </a:p>
        </p:txBody>
      </p:sp>
      <p:sp>
        <p:nvSpPr>
          <p:cNvPr id="75" name="テキスト ボックス 74">
            <a:extLst>
              <a:ext uri="{FF2B5EF4-FFF2-40B4-BE49-F238E27FC236}">
                <a16:creationId xmlns:a16="http://schemas.microsoft.com/office/drawing/2014/main" id="{95602114-F7B6-9FC9-12FA-38EE218202CE}"/>
              </a:ext>
            </a:extLst>
          </p:cNvPr>
          <p:cNvSpPr txBox="1"/>
          <p:nvPr/>
        </p:nvSpPr>
        <p:spPr>
          <a:xfrm>
            <a:off x="4541953" y="1978808"/>
            <a:ext cx="1338828" cy="553998"/>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ja-JP" sz="1000" b="1" dirty="0"/>
              <a:t>1/1/3</a:t>
            </a:r>
          </a:p>
          <a:p>
            <a:r>
              <a:rPr lang="en-US" altLang="ja-JP" sz="1000" b="1" dirty="0" err="1"/>
              <a:t>SVlan</a:t>
            </a:r>
            <a:endParaRPr lang="en-US" altLang="ja-JP" sz="1000" b="1" dirty="0"/>
          </a:p>
          <a:p>
            <a:r>
              <a:rPr lang="ja-JP" altLang="en-US" sz="1000" b="1" dirty="0"/>
              <a:t>プロバイダーポート</a:t>
            </a:r>
            <a:endParaRPr kumimoji="1" lang="ja-JP" altLang="en-US" sz="1000" b="1" dirty="0"/>
          </a:p>
        </p:txBody>
      </p:sp>
      <p:sp>
        <p:nvSpPr>
          <p:cNvPr id="77" name="テキスト ボックス 76">
            <a:extLst>
              <a:ext uri="{FF2B5EF4-FFF2-40B4-BE49-F238E27FC236}">
                <a16:creationId xmlns:a16="http://schemas.microsoft.com/office/drawing/2014/main" id="{DB492BED-3564-5AD2-F741-4231E07519B8}"/>
              </a:ext>
            </a:extLst>
          </p:cNvPr>
          <p:cNvSpPr txBox="1"/>
          <p:nvPr/>
        </p:nvSpPr>
        <p:spPr>
          <a:xfrm>
            <a:off x="6311221" y="1937941"/>
            <a:ext cx="1338828" cy="553998"/>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ja-JP" sz="1000" b="1" dirty="0"/>
              <a:t>1/1/3</a:t>
            </a:r>
          </a:p>
          <a:p>
            <a:r>
              <a:rPr lang="en-US" altLang="ja-JP" sz="1000" b="1" dirty="0" err="1"/>
              <a:t>SVlan</a:t>
            </a:r>
            <a:endParaRPr lang="en-US" altLang="ja-JP" sz="1000" b="1" dirty="0"/>
          </a:p>
          <a:p>
            <a:r>
              <a:rPr lang="ja-JP" altLang="en-US" sz="1000" b="1" dirty="0"/>
              <a:t>プロバイダーポート</a:t>
            </a:r>
            <a:endParaRPr kumimoji="1" lang="ja-JP" altLang="en-US" sz="1000" b="1" dirty="0"/>
          </a:p>
        </p:txBody>
      </p:sp>
      <p:sp>
        <p:nvSpPr>
          <p:cNvPr id="79" name="テキスト ボックス 78">
            <a:extLst>
              <a:ext uri="{FF2B5EF4-FFF2-40B4-BE49-F238E27FC236}">
                <a16:creationId xmlns:a16="http://schemas.microsoft.com/office/drawing/2014/main" id="{CF3D5089-E5FE-82DC-83FC-24E8AFBC68A1}"/>
              </a:ext>
            </a:extLst>
          </p:cNvPr>
          <p:cNvSpPr txBox="1"/>
          <p:nvPr/>
        </p:nvSpPr>
        <p:spPr>
          <a:xfrm>
            <a:off x="5986176" y="3089728"/>
            <a:ext cx="1210588" cy="553998"/>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altLang="ja-JP" sz="1000" b="1" dirty="0"/>
              <a:t>1/1/12</a:t>
            </a:r>
          </a:p>
          <a:p>
            <a:r>
              <a:rPr lang="en-US" altLang="ja-JP" sz="1000" b="1" dirty="0" err="1"/>
              <a:t>SVlan</a:t>
            </a:r>
            <a:endParaRPr lang="en-US" altLang="ja-JP" sz="1000" b="1" dirty="0"/>
          </a:p>
          <a:p>
            <a:r>
              <a:rPr lang="ja-JP" altLang="en-US" sz="1000" b="1" dirty="0"/>
              <a:t>カスタマーポート</a:t>
            </a:r>
            <a:endParaRPr kumimoji="1" lang="ja-JP" altLang="en-US" sz="1000" b="1" dirty="0"/>
          </a:p>
        </p:txBody>
      </p:sp>
      <p:sp>
        <p:nvSpPr>
          <p:cNvPr id="81" name="テキスト ボックス 80">
            <a:extLst>
              <a:ext uri="{FF2B5EF4-FFF2-40B4-BE49-F238E27FC236}">
                <a16:creationId xmlns:a16="http://schemas.microsoft.com/office/drawing/2014/main" id="{F03BF23C-500F-FC53-97D9-14BDB2F6EEF6}"/>
              </a:ext>
            </a:extLst>
          </p:cNvPr>
          <p:cNvSpPr txBox="1"/>
          <p:nvPr/>
        </p:nvSpPr>
        <p:spPr>
          <a:xfrm>
            <a:off x="7913963" y="3112431"/>
            <a:ext cx="720069" cy="553998"/>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US" altLang="ja-JP" sz="1000" b="1" dirty="0"/>
              <a:t>1/1/11</a:t>
            </a:r>
          </a:p>
          <a:p>
            <a:r>
              <a:rPr lang="ja-JP" altLang="en-US" sz="1000" b="1" dirty="0"/>
              <a:t>通常</a:t>
            </a:r>
            <a:r>
              <a:rPr lang="en-US" altLang="ja-JP" sz="1000" b="1" dirty="0" err="1"/>
              <a:t>Vlan</a:t>
            </a:r>
            <a:endParaRPr lang="en-US" altLang="ja-JP" sz="1000" b="1" dirty="0"/>
          </a:p>
          <a:p>
            <a:r>
              <a:rPr lang="ja-JP" altLang="en-US" sz="1000" b="1" dirty="0"/>
              <a:t>ポート</a:t>
            </a:r>
            <a:endParaRPr kumimoji="1" lang="ja-JP" altLang="en-US" sz="1000" b="1" dirty="0"/>
          </a:p>
        </p:txBody>
      </p:sp>
      <p:sp>
        <p:nvSpPr>
          <p:cNvPr id="83" name="テキスト ボックス 82">
            <a:extLst>
              <a:ext uri="{FF2B5EF4-FFF2-40B4-BE49-F238E27FC236}">
                <a16:creationId xmlns:a16="http://schemas.microsoft.com/office/drawing/2014/main" id="{66041FED-C175-B991-B43D-C50FA01046B6}"/>
              </a:ext>
            </a:extLst>
          </p:cNvPr>
          <p:cNvSpPr txBox="1"/>
          <p:nvPr/>
        </p:nvSpPr>
        <p:spPr>
          <a:xfrm>
            <a:off x="8829594" y="2081659"/>
            <a:ext cx="720069" cy="55399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ja-JP" sz="1000" b="1" dirty="0"/>
              <a:t>1/1/1</a:t>
            </a:r>
          </a:p>
          <a:p>
            <a:r>
              <a:rPr lang="ja-JP" altLang="en-US" sz="1000" b="1" dirty="0"/>
              <a:t>通常</a:t>
            </a:r>
            <a:r>
              <a:rPr lang="en-US" altLang="ja-JP" sz="1000" b="1" dirty="0" err="1"/>
              <a:t>Vlan</a:t>
            </a:r>
            <a:endParaRPr lang="en-US" altLang="ja-JP" sz="1000" b="1" dirty="0"/>
          </a:p>
          <a:p>
            <a:r>
              <a:rPr lang="ja-JP" altLang="en-US" sz="1000" b="1" dirty="0"/>
              <a:t>ポート</a:t>
            </a:r>
            <a:endParaRPr kumimoji="1" lang="ja-JP" altLang="en-US" sz="1000" b="1" dirty="0"/>
          </a:p>
        </p:txBody>
      </p:sp>
      <p:sp>
        <p:nvSpPr>
          <p:cNvPr id="84" name="テキスト ボックス 83">
            <a:extLst>
              <a:ext uri="{FF2B5EF4-FFF2-40B4-BE49-F238E27FC236}">
                <a16:creationId xmlns:a16="http://schemas.microsoft.com/office/drawing/2014/main" id="{541E9908-9499-B3AB-8533-8A78E60E2FFE}"/>
              </a:ext>
            </a:extLst>
          </p:cNvPr>
          <p:cNvSpPr txBox="1"/>
          <p:nvPr/>
        </p:nvSpPr>
        <p:spPr>
          <a:xfrm>
            <a:off x="1005728" y="5449454"/>
            <a:ext cx="8411277" cy="646331"/>
          </a:xfrm>
          <a:prstGeom prst="rect">
            <a:avLst/>
          </a:prstGeom>
          <a:noFill/>
        </p:spPr>
        <p:txBody>
          <a:bodyPr wrap="none" rtlCol="0">
            <a:spAutoFit/>
          </a:bodyPr>
          <a:lstStyle/>
          <a:p>
            <a:r>
              <a:rPr kumimoji="1" lang="ja-JP" altLang="en-US" dirty="0"/>
              <a:t>カスタマーポートから入ってきたパケットに対応したカスタマー</a:t>
            </a:r>
            <a:r>
              <a:rPr kumimoji="1" lang="en-US" altLang="ja-JP" dirty="0"/>
              <a:t>VLAN</a:t>
            </a:r>
            <a:r>
              <a:rPr kumimoji="1" lang="ja-JP" altLang="en-US" dirty="0"/>
              <a:t>を付ける</a:t>
            </a:r>
            <a:endParaRPr kumimoji="1" lang="en-US" altLang="ja-JP" dirty="0"/>
          </a:p>
          <a:p>
            <a:r>
              <a:rPr lang="ja-JP" altLang="en-US" dirty="0"/>
              <a:t>プロバイダーポート間でトンネルを構築するらしい</a:t>
            </a:r>
            <a:endParaRPr kumimoji="1" lang="ja-JP" altLang="en-US" dirty="0"/>
          </a:p>
        </p:txBody>
      </p:sp>
      <p:sp>
        <p:nvSpPr>
          <p:cNvPr id="85" name="四角形: 角を丸くする 84">
            <a:extLst>
              <a:ext uri="{FF2B5EF4-FFF2-40B4-BE49-F238E27FC236}">
                <a16:creationId xmlns:a16="http://schemas.microsoft.com/office/drawing/2014/main" id="{5F3A36F3-B2C9-2B81-47AA-F05367511C1D}"/>
              </a:ext>
            </a:extLst>
          </p:cNvPr>
          <p:cNvSpPr/>
          <p:nvPr/>
        </p:nvSpPr>
        <p:spPr>
          <a:xfrm>
            <a:off x="4031322" y="1565568"/>
            <a:ext cx="3802693" cy="3026054"/>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テキスト ボックス 86">
            <a:extLst>
              <a:ext uri="{FF2B5EF4-FFF2-40B4-BE49-F238E27FC236}">
                <a16:creationId xmlns:a16="http://schemas.microsoft.com/office/drawing/2014/main" id="{5253C052-7C43-F7C3-8035-24402DD2777E}"/>
              </a:ext>
            </a:extLst>
          </p:cNvPr>
          <p:cNvSpPr txBox="1"/>
          <p:nvPr/>
        </p:nvSpPr>
        <p:spPr>
          <a:xfrm>
            <a:off x="3873276" y="4628880"/>
            <a:ext cx="4445448" cy="369332"/>
          </a:xfrm>
          <a:prstGeom prst="rect">
            <a:avLst/>
          </a:prstGeom>
          <a:noFill/>
        </p:spPr>
        <p:txBody>
          <a:bodyPr wrap="none" rtlCol="0">
            <a:spAutoFit/>
          </a:bodyPr>
          <a:lstStyle/>
          <a:p>
            <a:r>
              <a:rPr kumimoji="1" lang="en-US" altLang="ja-JP" dirty="0" err="1">
                <a:solidFill>
                  <a:srgbClr val="FF0000"/>
                </a:solidFill>
              </a:rPr>
              <a:t>QinQ</a:t>
            </a:r>
            <a:r>
              <a:rPr kumimoji="1" lang="ja-JP" altLang="en-US" dirty="0">
                <a:solidFill>
                  <a:srgbClr val="FF0000"/>
                </a:solidFill>
              </a:rPr>
              <a:t>で</a:t>
            </a:r>
            <a:r>
              <a:rPr kumimoji="1" lang="en-US" altLang="ja-JP" dirty="0">
                <a:solidFill>
                  <a:srgbClr val="FF0000"/>
                </a:solidFill>
              </a:rPr>
              <a:t>L2</a:t>
            </a:r>
            <a:r>
              <a:rPr kumimoji="1" lang="ja-JP" altLang="en-US" dirty="0">
                <a:solidFill>
                  <a:srgbClr val="FF0000"/>
                </a:solidFill>
              </a:rPr>
              <a:t>通信をするためのトンネル部分</a:t>
            </a:r>
          </a:p>
        </p:txBody>
      </p:sp>
    </p:spTree>
    <p:extLst>
      <p:ext uri="{BB962C8B-B14F-4D97-AF65-F5344CB8AC3E}">
        <p14:creationId xmlns:p14="http://schemas.microsoft.com/office/powerpoint/2010/main" val="1376253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17C01-1138-7230-D8BE-A7233ADE1B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0E9A47-F2E2-507A-3D4C-0FCF7EF60CEB}"/>
              </a:ext>
            </a:extLst>
          </p:cNvPr>
          <p:cNvSpPr>
            <a:spLocks noGrp="1"/>
          </p:cNvSpPr>
          <p:nvPr>
            <p:ph type="title"/>
          </p:nvPr>
        </p:nvSpPr>
        <p:spPr/>
        <p:txBody>
          <a:bodyPr/>
          <a:lstStyle/>
          <a:p>
            <a:r>
              <a:rPr lang="en-US" altLang="ja-JP" dirty="0"/>
              <a:t>Step4</a:t>
            </a:r>
            <a:r>
              <a:rPr lang="ja-JP" altLang="en-US" dirty="0"/>
              <a:t>　スイッチを使った</a:t>
            </a:r>
            <a:r>
              <a:rPr lang="en-US" altLang="ja-JP" dirty="0" err="1"/>
              <a:t>QinQ</a:t>
            </a:r>
            <a:r>
              <a:rPr lang="ja-JP" altLang="en-US" dirty="0"/>
              <a:t>環境構築</a:t>
            </a:r>
            <a:endParaRPr kumimoji="1" lang="ja-JP" altLang="en-US" dirty="0"/>
          </a:p>
        </p:txBody>
      </p:sp>
      <p:pic>
        <p:nvPicPr>
          <p:cNvPr id="4" name="グラフィックス 3" descr="コンピューター 単色塗りつぶし">
            <a:extLst>
              <a:ext uri="{FF2B5EF4-FFF2-40B4-BE49-F238E27FC236}">
                <a16:creationId xmlns:a16="http://schemas.microsoft.com/office/drawing/2014/main" id="{55711984-9AEE-71B9-1822-0B4CDD3C45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49344" y="2343150"/>
            <a:ext cx="914400" cy="914400"/>
          </a:xfrm>
          <a:prstGeom prst="rect">
            <a:avLst/>
          </a:prstGeom>
        </p:spPr>
      </p:pic>
      <p:pic>
        <p:nvPicPr>
          <p:cNvPr id="5" name="グラフィックス 4" descr="コンピューター 単色塗りつぶし">
            <a:extLst>
              <a:ext uri="{FF2B5EF4-FFF2-40B4-BE49-F238E27FC236}">
                <a16:creationId xmlns:a16="http://schemas.microsoft.com/office/drawing/2014/main" id="{48E5371D-7142-899D-CE5B-13C0FAF1EE1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3100" y="2343150"/>
            <a:ext cx="914400" cy="914400"/>
          </a:xfrm>
          <a:prstGeom prst="rect">
            <a:avLst/>
          </a:prstGeom>
        </p:spPr>
      </p:pic>
      <p:cxnSp>
        <p:nvCxnSpPr>
          <p:cNvPr id="6" name="直線コネクタ 5">
            <a:extLst>
              <a:ext uri="{FF2B5EF4-FFF2-40B4-BE49-F238E27FC236}">
                <a16:creationId xmlns:a16="http://schemas.microsoft.com/office/drawing/2014/main" id="{EFDB3316-1E83-C608-FA38-38918D31E940}"/>
              </a:ext>
            </a:extLst>
          </p:cNvPr>
          <p:cNvCxnSpPr>
            <a:cxnSpLocks/>
            <a:stCxn id="11" idx="6"/>
            <a:endCxn id="16" idx="2"/>
          </p:cNvCxnSpPr>
          <p:nvPr/>
        </p:nvCxnSpPr>
        <p:spPr>
          <a:xfrm>
            <a:off x="1708713" y="2836042"/>
            <a:ext cx="833968"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19C34C24-67B5-FAA2-21F7-55ED7ED4868A}"/>
              </a:ext>
            </a:extLst>
          </p:cNvPr>
          <p:cNvSpPr txBox="1"/>
          <p:nvPr/>
        </p:nvSpPr>
        <p:spPr>
          <a:xfrm>
            <a:off x="200827" y="2147888"/>
            <a:ext cx="1935145" cy="369332"/>
          </a:xfrm>
          <a:prstGeom prst="rect">
            <a:avLst/>
          </a:prstGeom>
          <a:noFill/>
        </p:spPr>
        <p:txBody>
          <a:bodyPr wrap="none" rtlCol="0">
            <a:spAutoFit/>
          </a:bodyPr>
          <a:lstStyle/>
          <a:p>
            <a:r>
              <a:rPr kumimoji="1" lang="en-US" altLang="ja-JP" dirty="0"/>
              <a:t>Ubuntu Server A</a:t>
            </a:r>
            <a:endParaRPr kumimoji="1" lang="ja-JP" altLang="en-US" dirty="0"/>
          </a:p>
        </p:txBody>
      </p:sp>
      <p:sp>
        <p:nvSpPr>
          <p:cNvPr id="8" name="テキスト ボックス 7">
            <a:extLst>
              <a:ext uri="{FF2B5EF4-FFF2-40B4-BE49-F238E27FC236}">
                <a16:creationId xmlns:a16="http://schemas.microsoft.com/office/drawing/2014/main" id="{680B7B63-4575-4532-5B8E-8C9627C8B4EC}"/>
              </a:ext>
            </a:extLst>
          </p:cNvPr>
          <p:cNvSpPr txBox="1"/>
          <p:nvPr/>
        </p:nvSpPr>
        <p:spPr>
          <a:xfrm>
            <a:off x="9823899" y="2158484"/>
            <a:ext cx="1943161" cy="369332"/>
          </a:xfrm>
          <a:prstGeom prst="rect">
            <a:avLst/>
          </a:prstGeom>
          <a:noFill/>
        </p:spPr>
        <p:txBody>
          <a:bodyPr wrap="none" rtlCol="0">
            <a:spAutoFit/>
          </a:bodyPr>
          <a:lstStyle/>
          <a:p>
            <a:r>
              <a:rPr kumimoji="1" lang="en-US" altLang="ja-JP" dirty="0"/>
              <a:t>Ubuntu Server B</a:t>
            </a:r>
            <a:endParaRPr kumimoji="1" lang="ja-JP" altLang="en-US" dirty="0"/>
          </a:p>
        </p:txBody>
      </p:sp>
      <p:sp>
        <p:nvSpPr>
          <p:cNvPr id="9" name="テキスト ボックス 8">
            <a:extLst>
              <a:ext uri="{FF2B5EF4-FFF2-40B4-BE49-F238E27FC236}">
                <a16:creationId xmlns:a16="http://schemas.microsoft.com/office/drawing/2014/main" id="{FFD05B25-9224-5AE2-8195-04A4EF9618FF}"/>
              </a:ext>
            </a:extLst>
          </p:cNvPr>
          <p:cNvSpPr txBox="1"/>
          <p:nvPr/>
        </p:nvSpPr>
        <p:spPr>
          <a:xfrm>
            <a:off x="158904" y="3329276"/>
            <a:ext cx="1428596" cy="4616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sz="1200" dirty="0"/>
              <a:t>Interface ens33</a:t>
            </a:r>
          </a:p>
          <a:p>
            <a:r>
              <a:rPr lang="en-US" altLang="ja-JP" sz="1200" dirty="0"/>
              <a:t>IP:192.168.10.101</a:t>
            </a:r>
            <a:endParaRPr kumimoji="1" lang="ja-JP" altLang="en-US" sz="1200" dirty="0"/>
          </a:p>
        </p:txBody>
      </p:sp>
      <p:sp>
        <p:nvSpPr>
          <p:cNvPr id="10" name="テキスト ボックス 9">
            <a:extLst>
              <a:ext uri="{FF2B5EF4-FFF2-40B4-BE49-F238E27FC236}">
                <a16:creationId xmlns:a16="http://schemas.microsoft.com/office/drawing/2014/main" id="{5874F809-0E35-9679-B011-F19A1C767C0F}"/>
              </a:ext>
            </a:extLst>
          </p:cNvPr>
          <p:cNvSpPr txBox="1"/>
          <p:nvPr/>
        </p:nvSpPr>
        <p:spPr>
          <a:xfrm>
            <a:off x="10590775" y="3126898"/>
            <a:ext cx="1287532" cy="41549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defPPr>
              <a:defRPr lang="ja-JP"/>
            </a:defPPr>
            <a:lvl1pPr>
              <a:defRPr sz="1050"/>
            </a:lvl1pPr>
          </a:lstStyle>
          <a:p>
            <a:r>
              <a:rPr lang="en-US" altLang="ja-JP" dirty="0"/>
              <a:t>Interface ens33</a:t>
            </a:r>
          </a:p>
          <a:p>
            <a:r>
              <a:rPr lang="en-US" altLang="ja-JP" dirty="0"/>
              <a:t>IP:192.168.10.102</a:t>
            </a:r>
            <a:endParaRPr lang="ja-JP" altLang="en-US" dirty="0"/>
          </a:p>
        </p:txBody>
      </p:sp>
      <p:sp>
        <p:nvSpPr>
          <p:cNvPr id="11" name="楕円 10">
            <a:extLst>
              <a:ext uri="{FF2B5EF4-FFF2-40B4-BE49-F238E27FC236}">
                <a16:creationId xmlns:a16="http://schemas.microsoft.com/office/drawing/2014/main" id="{19EE9B48-6ED2-A91E-59C5-E29F446DA13C}"/>
              </a:ext>
            </a:extLst>
          </p:cNvPr>
          <p:cNvSpPr/>
          <p:nvPr/>
        </p:nvSpPr>
        <p:spPr>
          <a:xfrm>
            <a:off x="1540085" y="274829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02E4FF2A-0230-C75B-6181-87872673EB51}"/>
              </a:ext>
            </a:extLst>
          </p:cNvPr>
          <p:cNvSpPr/>
          <p:nvPr/>
        </p:nvSpPr>
        <p:spPr>
          <a:xfrm>
            <a:off x="10228131" y="273295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a:extLst>
              <a:ext uri="{FF2B5EF4-FFF2-40B4-BE49-F238E27FC236}">
                <a16:creationId xmlns:a16="http://schemas.microsoft.com/office/drawing/2014/main" id="{4829EF45-58F6-A142-C77F-0FD41A612378}"/>
              </a:ext>
            </a:extLst>
          </p:cNvPr>
          <p:cNvPicPr>
            <a:picLocks noChangeAspect="1"/>
          </p:cNvPicPr>
          <p:nvPr/>
        </p:nvPicPr>
        <p:blipFill>
          <a:blip r:embed="rId3"/>
          <a:stretch>
            <a:fillRect/>
          </a:stretch>
        </p:blipFill>
        <p:spPr>
          <a:xfrm>
            <a:off x="2529639" y="2370956"/>
            <a:ext cx="2402959" cy="724001"/>
          </a:xfrm>
          <a:prstGeom prst="rect">
            <a:avLst/>
          </a:prstGeom>
        </p:spPr>
      </p:pic>
      <p:pic>
        <p:nvPicPr>
          <p:cNvPr id="14" name="図 13">
            <a:extLst>
              <a:ext uri="{FF2B5EF4-FFF2-40B4-BE49-F238E27FC236}">
                <a16:creationId xmlns:a16="http://schemas.microsoft.com/office/drawing/2014/main" id="{EAFA1065-1C76-2D7F-F916-CBCB4C558559}"/>
              </a:ext>
            </a:extLst>
          </p:cNvPr>
          <p:cNvPicPr>
            <a:picLocks noChangeAspect="1"/>
          </p:cNvPicPr>
          <p:nvPr/>
        </p:nvPicPr>
        <p:blipFill>
          <a:blip r:embed="rId3"/>
          <a:stretch>
            <a:fillRect/>
          </a:stretch>
        </p:blipFill>
        <p:spPr>
          <a:xfrm>
            <a:off x="6572484" y="2386296"/>
            <a:ext cx="2702943" cy="724001"/>
          </a:xfrm>
          <a:prstGeom prst="rect">
            <a:avLst/>
          </a:prstGeom>
        </p:spPr>
      </p:pic>
      <p:cxnSp>
        <p:nvCxnSpPr>
          <p:cNvPr id="15" name="直線コネクタ 14">
            <a:extLst>
              <a:ext uri="{FF2B5EF4-FFF2-40B4-BE49-F238E27FC236}">
                <a16:creationId xmlns:a16="http://schemas.microsoft.com/office/drawing/2014/main" id="{93CE6929-2A05-DA8E-98DC-2EF659093A6B}"/>
              </a:ext>
            </a:extLst>
          </p:cNvPr>
          <p:cNvCxnSpPr>
            <a:cxnSpLocks/>
            <a:stCxn id="17" idx="6"/>
            <a:endCxn id="12" idx="2"/>
          </p:cNvCxnSpPr>
          <p:nvPr/>
        </p:nvCxnSpPr>
        <p:spPr>
          <a:xfrm flipV="1">
            <a:off x="9202423" y="2820702"/>
            <a:ext cx="1025708" cy="49143"/>
          </a:xfrm>
          <a:prstGeom prst="line">
            <a:avLst/>
          </a:prstGeom>
        </p:spPr>
        <p:style>
          <a:lnRef idx="2">
            <a:schemeClr val="accent1"/>
          </a:lnRef>
          <a:fillRef idx="0">
            <a:schemeClr val="accent1"/>
          </a:fillRef>
          <a:effectRef idx="1">
            <a:schemeClr val="accent1"/>
          </a:effectRef>
          <a:fontRef idx="minor">
            <a:schemeClr val="tx1"/>
          </a:fontRef>
        </p:style>
      </p:cxnSp>
      <p:sp>
        <p:nvSpPr>
          <p:cNvPr id="16" name="楕円 15">
            <a:extLst>
              <a:ext uri="{FF2B5EF4-FFF2-40B4-BE49-F238E27FC236}">
                <a16:creationId xmlns:a16="http://schemas.microsoft.com/office/drawing/2014/main" id="{2AEA9AB8-643C-A9F9-981E-9839BC2A3655}"/>
              </a:ext>
            </a:extLst>
          </p:cNvPr>
          <p:cNvSpPr/>
          <p:nvPr/>
        </p:nvSpPr>
        <p:spPr>
          <a:xfrm>
            <a:off x="2542681" y="2748297"/>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0C27384D-2B5A-57D8-94DC-038E8B69F069}"/>
              </a:ext>
            </a:extLst>
          </p:cNvPr>
          <p:cNvSpPr/>
          <p:nvPr/>
        </p:nvSpPr>
        <p:spPr>
          <a:xfrm>
            <a:off x="9033795" y="2782100"/>
            <a:ext cx="168628" cy="1754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C9B6A285-CE85-9552-DC48-7DDF058425A7}"/>
              </a:ext>
            </a:extLst>
          </p:cNvPr>
          <p:cNvSpPr/>
          <p:nvPr/>
        </p:nvSpPr>
        <p:spPr>
          <a:xfrm>
            <a:off x="4782956" y="2754730"/>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62A75142-1408-149E-C0D0-3F5B215C0119}"/>
              </a:ext>
            </a:extLst>
          </p:cNvPr>
          <p:cNvSpPr/>
          <p:nvPr/>
        </p:nvSpPr>
        <p:spPr>
          <a:xfrm>
            <a:off x="6591470" y="2773072"/>
            <a:ext cx="168628" cy="17549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A0347CBA-E4C2-50B9-26B0-CB59258BB93F}"/>
              </a:ext>
            </a:extLst>
          </p:cNvPr>
          <p:cNvCxnSpPr>
            <a:cxnSpLocks/>
            <a:stCxn id="18" idx="6"/>
            <a:endCxn id="19" idx="2"/>
          </p:cNvCxnSpPr>
          <p:nvPr/>
        </p:nvCxnSpPr>
        <p:spPr>
          <a:xfrm>
            <a:off x="4951584" y="2842475"/>
            <a:ext cx="1639886" cy="18342"/>
          </a:xfrm>
          <a:prstGeom prst="line">
            <a:avLst/>
          </a:prstGeom>
        </p:spPr>
        <p:style>
          <a:lnRef idx="2">
            <a:schemeClr val="accent2"/>
          </a:lnRef>
          <a:fillRef idx="0">
            <a:schemeClr val="accent2"/>
          </a:fillRef>
          <a:effectRef idx="1">
            <a:schemeClr val="accent2"/>
          </a:effectRef>
          <a:fontRef idx="minor">
            <a:schemeClr val="tx1"/>
          </a:fontRef>
        </p:style>
      </p:cxnSp>
      <p:sp>
        <p:nvSpPr>
          <p:cNvPr id="23" name="テキスト ボックス 22">
            <a:extLst>
              <a:ext uri="{FF2B5EF4-FFF2-40B4-BE49-F238E27FC236}">
                <a16:creationId xmlns:a16="http://schemas.microsoft.com/office/drawing/2014/main" id="{D53AAD97-B386-2256-8A53-10A58AB5924E}"/>
              </a:ext>
            </a:extLst>
          </p:cNvPr>
          <p:cNvSpPr txBox="1"/>
          <p:nvPr/>
        </p:nvSpPr>
        <p:spPr>
          <a:xfrm>
            <a:off x="2031750" y="3329276"/>
            <a:ext cx="1428596"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ja-JP" sz="1200" dirty="0"/>
              <a:t>Interface 1/1/1</a:t>
            </a:r>
          </a:p>
          <a:p>
            <a:r>
              <a:rPr lang="en-US" altLang="ja-JP" sz="1200" dirty="0" err="1"/>
              <a:t>Vlan</a:t>
            </a:r>
            <a:r>
              <a:rPr lang="en-US" altLang="ja-JP" sz="1200" dirty="0"/>
              <a:t> </a:t>
            </a:r>
            <a:r>
              <a:rPr lang="ja-JP" altLang="en-US" sz="1200" dirty="0"/>
              <a:t> </a:t>
            </a:r>
            <a:r>
              <a:rPr lang="en-US" altLang="ja-JP" sz="1200" dirty="0"/>
              <a:t>10</a:t>
            </a:r>
            <a:endParaRPr kumimoji="1" lang="en-US" altLang="ja-JP" sz="1200" dirty="0"/>
          </a:p>
          <a:p>
            <a:r>
              <a:rPr lang="en-US" altLang="ja-JP" sz="1200" dirty="0"/>
              <a:t>IP:192.168.10.254</a:t>
            </a:r>
            <a:endParaRPr kumimoji="1" lang="ja-JP" altLang="en-US" sz="1200" dirty="0"/>
          </a:p>
        </p:txBody>
      </p:sp>
      <p:sp>
        <p:nvSpPr>
          <p:cNvPr id="24" name="テキスト ボックス 23">
            <a:extLst>
              <a:ext uri="{FF2B5EF4-FFF2-40B4-BE49-F238E27FC236}">
                <a16:creationId xmlns:a16="http://schemas.microsoft.com/office/drawing/2014/main" id="{982F41C6-2471-5BE1-9B0B-DF29DD3DB796}"/>
              </a:ext>
            </a:extLst>
          </p:cNvPr>
          <p:cNvSpPr txBox="1"/>
          <p:nvPr/>
        </p:nvSpPr>
        <p:spPr>
          <a:xfrm>
            <a:off x="8486504" y="3023614"/>
            <a:ext cx="1287532" cy="57708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sz="1050" dirty="0"/>
              <a:t>Interface</a:t>
            </a:r>
            <a:r>
              <a:rPr lang="ja-JP" altLang="en-US" sz="1050" dirty="0"/>
              <a:t> </a:t>
            </a:r>
            <a:r>
              <a:rPr lang="en-US" altLang="ja-JP" sz="1050" dirty="0"/>
              <a:t>1/1/1</a:t>
            </a:r>
          </a:p>
          <a:p>
            <a:r>
              <a:rPr kumimoji="1" lang="en-US" altLang="ja-JP" sz="1050" dirty="0"/>
              <a:t>vlan10</a:t>
            </a:r>
          </a:p>
          <a:p>
            <a:r>
              <a:rPr lang="en-US" altLang="ja-JP" sz="1050" dirty="0"/>
              <a:t>IP:192.168.10.254</a:t>
            </a:r>
            <a:endParaRPr kumimoji="1" lang="ja-JP" altLang="en-US" sz="1050" dirty="0"/>
          </a:p>
        </p:txBody>
      </p:sp>
      <p:sp>
        <p:nvSpPr>
          <p:cNvPr id="25" name="楕円 24">
            <a:extLst>
              <a:ext uri="{FF2B5EF4-FFF2-40B4-BE49-F238E27FC236}">
                <a16:creationId xmlns:a16="http://schemas.microsoft.com/office/drawing/2014/main" id="{2F456C32-90D1-6D7A-7867-7D74B56E3979}"/>
              </a:ext>
            </a:extLst>
          </p:cNvPr>
          <p:cNvSpPr/>
          <p:nvPr/>
        </p:nvSpPr>
        <p:spPr>
          <a:xfrm>
            <a:off x="3517898" y="2820702"/>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C3FEDFC7-498C-8B1E-FA56-F87CB7F88E23}"/>
              </a:ext>
            </a:extLst>
          </p:cNvPr>
          <p:cNvSpPr/>
          <p:nvPr/>
        </p:nvSpPr>
        <p:spPr>
          <a:xfrm>
            <a:off x="7171527" y="2782100"/>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F8B7922A-A38D-6336-A491-3275F5E9F0D1}"/>
              </a:ext>
            </a:extLst>
          </p:cNvPr>
          <p:cNvSpPr txBox="1"/>
          <p:nvPr/>
        </p:nvSpPr>
        <p:spPr>
          <a:xfrm>
            <a:off x="3967429" y="1715326"/>
            <a:ext cx="1810111"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a:t>Interface</a:t>
            </a:r>
            <a:r>
              <a:rPr lang="ja-JP" altLang="en-US" dirty="0"/>
              <a:t> </a:t>
            </a:r>
            <a:r>
              <a:rPr lang="en-US" altLang="ja-JP" dirty="0"/>
              <a:t>1/1/3</a:t>
            </a:r>
          </a:p>
          <a:p>
            <a:r>
              <a:rPr kumimoji="1" lang="en-US" altLang="ja-JP" dirty="0" err="1"/>
              <a:t>Trunck</a:t>
            </a:r>
            <a:r>
              <a:rPr kumimoji="1" lang="en-US" altLang="ja-JP" dirty="0"/>
              <a:t> 100,200</a:t>
            </a:r>
          </a:p>
        </p:txBody>
      </p:sp>
      <p:sp>
        <p:nvSpPr>
          <p:cNvPr id="30" name="テキスト ボックス 29">
            <a:extLst>
              <a:ext uri="{FF2B5EF4-FFF2-40B4-BE49-F238E27FC236}">
                <a16:creationId xmlns:a16="http://schemas.microsoft.com/office/drawing/2014/main" id="{AA564007-DC9E-C72C-0210-73D00EC3C8CA}"/>
              </a:ext>
            </a:extLst>
          </p:cNvPr>
          <p:cNvSpPr txBox="1"/>
          <p:nvPr/>
        </p:nvSpPr>
        <p:spPr>
          <a:xfrm>
            <a:off x="6182331" y="1712585"/>
            <a:ext cx="1810111"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en-US" altLang="ja-JP" dirty="0"/>
              <a:t>Interface</a:t>
            </a:r>
            <a:r>
              <a:rPr lang="ja-JP" altLang="en-US" dirty="0"/>
              <a:t> </a:t>
            </a:r>
            <a:r>
              <a:rPr lang="en-US" altLang="ja-JP" dirty="0"/>
              <a:t>1/1/3</a:t>
            </a:r>
          </a:p>
          <a:p>
            <a:r>
              <a:rPr kumimoji="1" lang="en-US" altLang="ja-JP" dirty="0" err="1"/>
              <a:t>Trunck</a:t>
            </a:r>
            <a:r>
              <a:rPr kumimoji="1" lang="en-US" altLang="ja-JP" dirty="0"/>
              <a:t> 100,200</a:t>
            </a:r>
          </a:p>
        </p:txBody>
      </p:sp>
      <p:sp>
        <p:nvSpPr>
          <p:cNvPr id="33" name="テキスト ボックス 32">
            <a:extLst>
              <a:ext uri="{FF2B5EF4-FFF2-40B4-BE49-F238E27FC236}">
                <a16:creationId xmlns:a16="http://schemas.microsoft.com/office/drawing/2014/main" id="{E78A5EF6-DA80-AA4D-7CCC-407705C39956}"/>
              </a:ext>
            </a:extLst>
          </p:cNvPr>
          <p:cNvSpPr txBox="1"/>
          <p:nvPr/>
        </p:nvSpPr>
        <p:spPr>
          <a:xfrm>
            <a:off x="1708713" y="4578174"/>
            <a:ext cx="1712328" cy="46166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kumimoji="1" lang="en-US" altLang="ja-JP" sz="1200" dirty="0" err="1"/>
              <a:t>Vlan</a:t>
            </a:r>
            <a:r>
              <a:rPr kumimoji="1" lang="en-US" altLang="ja-JP" sz="1200" dirty="0"/>
              <a:t> Interface</a:t>
            </a:r>
            <a:r>
              <a:rPr lang="ja-JP" altLang="en-US" sz="1200" dirty="0"/>
              <a:t> </a:t>
            </a:r>
            <a:r>
              <a:rPr lang="en-US" altLang="ja-JP" sz="1200" dirty="0"/>
              <a:t>1/1/11</a:t>
            </a:r>
          </a:p>
          <a:p>
            <a:r>
              <a:rPr lang="en-US" altLang="ja-JP" sz="1200" dirty="0" err="1"/>
              <a:t>Vlan</a:t>
            </a:r>
            <a:r>
              <a:rPr lang="en-US" altLang="ja-JP" sz="1200" dirty="0"/>
              <a:t> 10</a:t>
            </a:r>
            <a:endParaRPr kumimoji="1" lang="en-US" altLang="ja-JP" sz="1200" dirty="0"/>
          </a:p>
        </p:txBody>
      </p:sp>
      <p:sp>
        <p:nvSpPr>
          <p:cNvPr id="35" name="楕円 34">
            <a:extLst>
              <a:ext uri="{FF2B5EF4-FFF2-40B4-BE49-F238E27FC236}">
                <a16:creationId xmlns:a16="http://schemas.microsoft.com/office/drawing/2014/main" id="{57EB4569-E843-AF06-EB05-3A066FDB254A}"/>
              </a:ext>
            </a:extLst>
          </p:cNvPr>
          <p:cNvSpPr/>
          <p:nvPr/>
        </p:nvSpPr>
        <p:spPr>
          <a:xfrm>
            <a:off x="3985735" y="2820702"/>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C6F70C6B-6C3C-15A0-FFA7-3CC6D7126526}"/>
              </a:ext>
            </a:extLst>
          </p:cNvPr>
          <p:cNvSpPr txBox="1"/>
          <p:nvPr/>
        </p:nvSpPr>
        <p:spPr>
          <a:xfrm>
            <a:off x="4048650" y="4553953"/>
            <a:ext cx="1712328" cy="46166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kumimoji="1" lang="en-US" altLang="ja-JP" sz="1200" dirty="0" err="1"/>
              <a:t>Vlan</a:t>
            </a:r>
            <a:r>
              <a:rPr kumimoji="1" lang="en-US" altLang="ja-JP" sz="1200" dirty="0"/>
              <a:t> Interface</a:t>
            </a:r>
            <a:r>
              <a:rPr lang="ja-JP" altLang="en-US" sz="1200" dirty="0"/>
              <a:t> </a:t>
            </a:r>
            <a:r>
              <a:rPr lang="en-US" altLang="ja-JP" sz="1200" dirty="0"/>
              <a:t>1/1/12</a:t>
            </a:r>
          </a:p>
          <a:p>
            <a:r>
              <a:rPr lang="en-US" altLang="ja-JP" sz="1200" dirty="0" err="1"/>
              <a:t>Vlan</a:t>
            </a:r>
            <a:r>
              <a:rPr lang="en-US" altLang="ja-JP" sz="1200" dirty="0"/>
              <a:t> 100</a:t>
            </a:r>
            <a:endParaRPr kumimoji="1" lang="en-US" altLang="ja-JP" sz="1200" dirty="0"/>
          </a:p>
        </p:txBody>
      </p:sp>
      <p:sp>
        <p:nvSpPr>
          <p:cNvPr id="39" name="テキスト ボックス 38">
            <a:extLst>
              <a:ext uri="{FF2B5EF4-FFF2-40B4-BE49-F238E27FC236}">
                <a16:creationId xmlns:a16="http://schemas.microsoft.com/office/drawing/2014/main" id="{3044FC44-FB19-1A2C-9E77-17478058DD1F}"/>
              </a:ext>
            </a:extLst>
          </p:cNvPr>
          <p:cNvSpPr txBox="1"/>
          <p:nvPr/>
        </p:nvSpPr>
        <p:spPr>
          <a:xfrm>
            <a:off x="8419263" y="4564272"/>
            <a:ext cx="1712328" cy="46166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kumimoji="1" lang="en-US" altLang="ja-JP" sz="1200" dirty="0" err="1"/>
              <a:t>Vlan</a:t>
            </a:r>
            <a:r>
              <a:rPr kumimoji="1" lang="en-US" altLang="ja-JP" sz="1200" dirty="0"/>
              <a:t> Interface</a:t>
            </a:r>
            <a:r>
              <a:rPr lang="ja-JP" altLang="en-US" sz="1200" dirty="0"/>
              <a:t> </a:t>
            </a:r>
            <a:r>
              <a:rPr lang="en-US" altLang="ja-JP" sz="1200" dirty="0"/>
              <a:t>1/1/11</a:t>
            </a:r>
          </a:p>
          <a:p>
            <a:r>
              <a:rPr lang="en-US" altLang="ja-JP" sz="1200" dirty="0" err="1"/>
              <a:t>Vlan</a:t>
            </a:r>
            <a:r>
              <a:rPr lang="en-US" altLang="ja-JP" sz="1200" dirty="0"/>
              <a:t> 10</a:t>
            </a:r>
            <a:endParaRPr kumimoji="1" lang="en-US" altLang="ja-JP" sz="1200" dirty="0"/>
          </a:p>
        </p:txBody>
      </p:sp>
      <p:sp>
        <p:nvSpPr>
          <p:cNvPr id="41" name="テキスト ボックス 40">
            <a:extLst>
              <a:ext uri="{FF2B5EF4-FFF2-40B4-BE49-F238E27FC236}">
                <a16:creationId xmlns:a16="http://schemas.microsoft.com/office/drawing/2014/main" id="{F5000280-51E3-5A73-A31E-DCF7B254DDB4}"/>
              </a:ext>
            </a:extLst>
          </p:cNvPr>
          <p:cNvSpPr txBox="1"/>
          <p:nvPr/>
        </p:nvSpPr>
        <p:spPr>
          <a:xfrm>
            <a:off x="6276469" y="4575841"/>
            <a:ext cx="1712328" cy="46166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kumimoji="1" lang="en-US" altLang="ja-JP" sz="1200" dirty="0" err="1"/>
              <a:t>Vlan</a:t>
            </a:r>
            <a:r>
              <a:rPr kumimoji="1" lang="en-US" altLang="ja-JP" sz="1200" dirty="0"/>
              <a:t> Interface</a:t>
            </a:r>
            <a:r>
              <a:rPr lang="ja-JP" altLang="en-US" sz="1200" dirty="0"/>
              <a:t> </a:t>
            </a:r>
            <a:r>
              <a:rPr lang="en-US" altLang="ja-JP" sz="1200" dirty="0"/>
              <a:t>1/1/12</a:t>
            </a:r>
          </a:p>
          <a:p>
            <a:r>
              <a:rPr lang="en-US" altLang="ja-JP" sz="1200" dirty="0" err="1"/>
              <a:t>Vlan</a:t>
            </a:r>
            <a:r>
              <a:rPr lang="en-US" altLang="ja-JP" sz="1200" dirty="0"/>
              <a:t> 100</a:t>
            </a:r>
            <a:endParaRPr kumimoji="1" lang="en-US" altLang="ja-JP" sz="1200" dirty="0"/>
          </a:p>
        </p:txBody>
      </p:sp>
      <p:sp>
        <p:nvSpPr>
          <p:cNvPr id="44" name="楕円 43">
            <a:extLst>
              <a:ext uri="{FF2B5EF4-FFF2-40B4-BE49-F238E27FC236}">
                <a16:creationId xmlns:a16="http://schemas.microsoft.com/office/drawing/2014/main" id="{22240BCF-F038-6C41-AD9E-663E5FD5A252}"/>
              </a:ext>
            </a:extLst>
          </p:cNvPr>
          <p:cNvSpPr/>
          <p:nvPr/>
        </p:nvSpPr>
        <p:spPr>
          <a:xfrm>
            <a:off x="7749701" y="2773072"/>
            <a:ext cx="168628" cy="17549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cxnSp>
        <p:nvCxnSpPr>
          <p:cNvPr id="46" name="コネクタ: カギ線 45">
            <a:extLst>
              <a:ext uri="{FF2B5EF4-FFF2-40B4-BE49-F238E27FC236}">
                <a16:creationId xmlns:a16="http://schemas.microsoft.com/office/drawing/2014/main" id="{F07245CB-23B5-0063-D0D0-CC1353E7DBDA}"/>
              </a:ext>
            </a:extLst>
          </p:cNvPr>
          <p:cNvCxnSpPr>
            <a:stCxn id="25" idx="4"/>
            <a:endCxn id="35" idx="4"/>
          </p:cNvCxnSpPr>
          <p:nvPr/>
        </p:nvCxnSpPr>
        <p:spPr>
          <a:xfrm rot="16200000" flipH="1">
            <a:off x="3836130" y="2762273"/>
            <a:ext cx="12700" cy="467837"/>
          </a:xfrm>
          <a:prstGeom prst="bentConnector3">
            <a:avLst>
              <a:gd name="adj1" fmla="val 4054543"/>
            </a:avLst>
          </a:prstGeom>
        </p:spPr>
        <p:style>
          <a:lnRef idx="2">
            <a:schemeClr val="accent6"/>
          </a:lnRef>
          <a:fillRef idx="0">
            <a:schemeClr val="accent6"/>
          </a:fillRef>
          <a:effectRef idx="1">
            <a:schemeClr val="accent6"/>
          </a:effectRef>
          <a:fontRef idx="minor">
            <a:schemeClr val="tx1"/>
          </a:fontRef>
        </p:style>
      </p:cxnSp>
      <p:cxnSp>
        <p:nvCxnSpPr>
          <p:cNvPr id="48" name="コネクタ: カギ線 47">
            <a:extLst>
              <a:ext uri="{FF2B5EF4-FFF2-40B4-BE49-F238E27FC236}">
                <a16:creationId xmlns:a16="http://schemas.microsoft.com/office/drawing/2014/main" id="{438EE237-72F1-114C-FDF0-2742997F11A5}"/>
              </a:ext>
            </a:extLst>
          </p:cNvPr>
          <p:cNvCxnSpPr>
            <a:cxnSpLocks/>
            <a:stCxn id="26" idx="4"/>
            <a:endCxn id="44" idx="4"/>
          </p:cNvCxnSpPr>
          <p:nvPr/>
        </p:nvCxnSpPr>
        <p:spPr>
          <a:xfrm rot="5400000" flipH="1" flipV="1">
            <a:off x="7540414" y="2663989"/>
            <a:ext cx="9028" cy="578174"/>
          </a:xfrm>
          <a:prstGeom prst="bentConnector3">
            <a:avLst>
              <a:gd name="adj1" fmla="val -6829054"/>
            </a:avLst>
          </a:prstGeom>
        </p:spPr>
        <p:style>
          <a:lnRef idx="2">
            <a:schemeClr val="accent6"/>
          </a:lnRef>
          <a:fillRef idx="0">
            <a:schemeClr val="accent6"/>
          </a:fillRef>
          <a:effectRef idx="1">
            <a:schemeClr val="accent6"/>
          </a:effectRef>
          <a:fontRef idx="minor">
            <a:schemeClr val="tx1"/>
          </a:fontRef>
        </p:style>
      </p:cxnSp>
      <p:sp>
        <p:nvSpPr>
          <p:cNvPr id="52" name="矢印: 右 51">
            <a:extLst>
              <a:ext uri="{FF2B5EF4-FFF2-40B4-BE49-F238E27FC236}">
                <a16:creationId xmlns:a16="http://schemas.microsoft.com/office/drawing/2014/main" id="{D557B374-B15C-4966-150A-DCD3E641A77E}"/>
              </a:ext>
            </a:extLst>
          </p:cNvPr>
          <p:cNvSpPr/>
          <p:nvPr/>
        </p:nvSpPr>
        <p:spPr>
          <a:xfrm>
            <a:off x="1449277" y="3334647"/>
            <a:ext cx="647700"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矢印: 右 53">
            <a:extLst>
              <a:ext uri="{FF2B5EF4-FFF2-40B4-BE49-F238E27FC236}">
                <a16:creationId xmlns:a16="http://schemas.microsoft.com/office/drawing/2014/main" id="{C5C44CC5-4DF1-BFD5-4F12-F06717CC3494}"/>
              </a:ext>
            </a:extLst>
          </p:cNvPr>
          <p:cNvSpPr/>
          <p:nvPr/>
        </p:nvSpPr>
        <p:spPr>
          <a:xfrm rot="5400000">
            <a:off x="2365794" y="4037869"/>
            <a:ext cx="647700"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矢印: 右 55">
            <a:extLst>
              <a:ext uri="{FF2B5EF4-FFF2-40B4-BE49-F238E27FC236}">
                <a16:creationId xmlns:a16="http://schemas.microsoft.com/office/drawing/2014/main" id="{704B7639-DB1F-53CC-BB8A-2F06E27EE1C3}"/>
              </a:ext>
            </a:extLst>
          </p:cNvPr>
          <p:cNvSpPr/>
          <p:nvPr/>
        </p:nvSpPr>
        <p:spPr>
          <a:xfrm>
            <a:off x="3407268" y="4504609"/>
            <a:ext cx="647700"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右 57">
            <a:extLst>
              <a:ext uri="{FF2B5EF4-FFF2-40B4-BE49-F238E27FC236}">
                <a16:creationId xmlns:a16="http://schemas.microsoft.com/office/drawing/2014/main" id="{4143A0C0-4670-9CC1-FC3D-3B277114A2F2}"/>
              </a:ext>
            </a:extLst>
          </p:cNvPr>
          <p:cNvSpPr/>
          <p:nvPr/>
        </p:nvSpPr>
        <p:spPr>
          <a:xfrm rot="16200000">
            <a:off x="3655761" y="3096557"/>
            <a:ext cx="1856788"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3FEB9EC8-7625-AA5D-7290-B36EF7BC76E2}"/>
              </a:ext>
            </a:extLst>
          </p:cNvPr>
          <p:cNvSpPr/>
          <p:nvPr/>
        </p:nvSpPr>
        <p:spPr>
          <a:xfrm>
            <a:off x="5656086" y="1338324"/>
            <a:ext cx="647700"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CF1C15DF-FF77-8127-BF3A-0600DD3FC1C8}"/>
              </a:ext>
            </a:extLst>
          </p:cNvPr>
          <p:cNvSpPr/>
          <p:nvPr/>
        </p:nvSpPr>
        <p:spPr>
          <a:xfrm rot="5400000">
            <a:off x="5905129" y="3207280"/>
            <a:ext cx="2096313"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矢印: 右 63">
            <a:extLst>
              <a:ext uri="{FF2B5EF4-FFF2-40B4-BE49-F238E27FC236}">
                <a16:creationId xmlns:a16="http://schemas.microsoft.com/office/drawing/2014/main" id="{18CB067F-93A7-CA56-275F-1171BFBA778B}"/>
              </a:ext>
            </a:extLst>
          </p:cNvPr>
          <p:cNvSpPr/>
          <p:nvPr/>
        </p:nvSpPr>
        <p:spPr>
          <a:xfrm>
            <a:off x="7905922" y="4230954"/>
            <a:ext cx="647700"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E238B4BC-968C-68F7-18F0-06AE6751E0A4}"/>
              </a:ext>
            </a:extLst>
          </p:cNvPr>
          <p:cNvSpPr/>
          <p:nvPr/>
        </p:nvSpPr>
        <p:spPr>
          <a:xfrm rot="16200000">
            <a:off x="8892319" y="3804992"/>
            <a:ext cx="937567"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80B5CC4E-7592-B00A-218B-860F4D6A6481}"/>
              </a:ext>
            </a:extLst>
          </p:cNvPr>
          <p:cNvSpPr/>
          <p:nvPr/>
        </p:nvSpPr>
        <p:spPr>
          <a:xfrm>
            <a:off x="9858555" y="3129203"/>
            <a:ext cx="647700"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テキスト ボックス 68">
            <a:extLst>
              <a:ext uri="{FF2B5EF4-FFF2-40B4-BE49-F238E27FC236}">
                <a16:creationId xmlns:a16="http://schemas.microsoft.com/office/drawing/2014/main" id="{E6DED019-780C-72C8-E664-778EA34ADBFC}"/>
              </a:ext>
            </a:extLst>
          </p:cNvPr>
          <p:cNvSpPr txBox="1"/>
          <p:nvPr/>
        </p:nvSpPr>
        <p:spPr>
          <a:xfrm>
            <a:off x="2383105" y="2348186"/>
            <a:ext cx="720069" cy="40011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ja-JP" altLang="en-US" sz="1000" b="1" dirty="0"/>
              <a:t>通常</a:t>
            </a:r>
            <a:r>
              <a:rPr lang="en-US" altLang="ja-JP" sz="1000" b="1" dirty="0" err="1"/>
              <a:t>Vlan</a:t>
            </a:r>
            <a:endParaRPr lang="en-US" altLang="ja-JP" sz="1000" b="1" dirty="0"/>
          </a:p>
          <a:p>
            <a:r>
              <a:rPr lang="ja-JP" altLang="en-US" sz="1000" b="1" dirty="0"/>
              <a:t>ポート</a:t>
            </a:r>
            <a:endParaRPr kumimoji="1" lang="ja-JP" altLang="en-US" sz="1000" b="1" dirty="0"/>
          </a:p>
        </p:txBody>
      </p:sp>
      <p:sp>
        <p:nvSpPr>
          <p:cNvPr id="3" name="テキスト ボックス 2">
            <a:extLst>
              <a:ext uri="{FF2B5EF4-FFF2-40B4-BE49-F238E27FC236}">
                <a16:creationId xmlns:a16="http://schemas.microsoft.com/office/drawing/2014/main" id="{48AF5351-55B0-AC0C-F376-17444C08E4AD}"/>
              </a:ext>
            </a:extLst>
          </p:cNvPr>
          <p:cNvSpPr txBox="1"/>
          <p:nvPr/>
        </p:nvSpPr>
        <p:spPr>
          <a:xfrm>
            <a:off x="673100" y="5726545"/>
            <a:ext cx="5920210" cy="369332"/>
          </a:xfrm>
          <a:prstGeom prst="rect">
            <a:avLst/>
          </a:prstGeom>
          <a:noFill/>
        </p:spPr>
        <p:txBody>
          <a:bodyPr wrap="none" rtlCol="0">
            <a:spAutoFit/>
          </a:bodyPr>
          <a:lstStyle/>
          <a:p>
            <a:r>
              <a:rPr kumimoji="1" lang="en-US" altLang="ja-JP" dirty="0" err="1"/>
              <a:t>StaticMac</a:t>
            </a:r>
            <a:r>
              <a:rPr lang="ja-JP" altLang="en-US" dirty="0"/>
              <a:t>に通信先を指定して</a:t>
            </a:r>
            <a:r>
              <a:rPr lang="en-US" altLang="ja-JP" dirty="0"/>
              <a:t>1/1/11</a:t>
            </a:r>
            <a:r>
              <a:rPr lang="ja-JP" altLang="en-US" dirty="0"/>
              <a:t>に行くように指定</a:t>
            </a:r>
            <a:endParaRPr lang="en-US" altLang="ja-JP" dirty="0"/>
          </a:p>
        </p:txBody>
      </p:sp>
    </p:spTree>
    <p:extLst>
      <p:ext uri="{BB962C8B-B14F-4D97-AF65-F5344CB8AC3E}">
        <p14:creationId xmlns:p14="http://schemas.microsoft.com/office/powerpoint/2010/main" val="2110131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D62F56-08D7-2E90-BDCE-2BC63224883B}"/>
              </a:ext>
            </a:extLst>
          </p:cNvPr>
          <p:cNvSpPr>
            <a:spLocks noGrp="1"/>
          </p:cNvSpPr>
          <p:nvPr>
            <p:ph type="title"/>
          </p:nvPr>
        </p:nvSpPr>
        <p:spPr>
          <a:xfrm>
            <a:off x="187409" y="-3729"/>
            <a:ext cx="5391355" cy="908929"/>
          </a:xfrm>
        </p:spPr>
        <p:txBody>
          <a:bodyPr/>
          <a:lstStyle/>
          <a:p>
            <a:r>
              <a:rPr kumimoji="1" lang="en-US" altLang="ja-JP" dirty="0" err="1"/>
              <a:t>QinQ</a:t>
            </a:r>
            <a:r>
              <a:rPr kumimoji="1" lang="ja-JP" altLang="en-US" dirty="0"/>
              <a:t>パケットの確認</a:t>
            </a:r>
          </a:p>
        </p:txBody>
      </p:sp>
      <p:pic>
        <p:nvPicPr>
          <p:cNvPr id="35" name="図 34">
            <a:extLst>
              <a:ext uri="{FF2B5EF4-FFF2-40B4-BE49-F238E27FC236}">
                <a16:creationId xmlns:a16="http://schemas.microsoft.com/office/drawing/2014/main" id="{53FA65EC-3013-9693-6BA3-25BE0B69287C}"/>
              </a:ext>
            </a:extLst>
          </p:cNvPr>
          <p:cNvPicPr>
            <a:picLocks noChangeAspect="1"/>
          </p:cNvPicPr>
          <p:nvPr/>
        </p:nvPicPr>
        <p:blipFill>
          <a:blip r:embed="rId2"/>
          <a:stretch>
            <a:fillRect/>
          </a:stretch>
        </p:blipFill>
        <p:spPr>
          <a:xfrm>
            <a:off x="159901" y="840510"/>
            <a:ext cx="11850670" cy="5776652"/>
          </a:xfrm>
          <a:prstGeom prst="rect">
            <a:avLst/>
          </a:prstGeom>
        </p:spPr>
      </p:pic>
      <p:pic>
        <p:nvPicPr>
          <p:cNvPr id="68" name="図 67">
            <a:extLst>
              <a:ext uri="{FF2B5EF4-FFF2-40B4-BE49-F238E27FC236}">
                <a16:creationId xmlns:a16="http://schemas.microsoft.com/office/drawing/2014/main" id="{199173A5-5568-24FA-418B-6D0C8C144701}"/>
              </a:ext>
            </a:extLst>
          </p:cNvPr>
          <p:cNvPicPr>
            <a:picLocks noChangeAspect="1"/>
          </p:cNvPicPr>
          <p:nvPr/>
        </p:nvPicPr>
        <p:blipFill>
          <a:blip r:embed="rId3"/>
          <a:stretch>
            <a:fillRect/>
          </a:stretch>
        </p:blipFill>
        <p:spPr>
          <a:xfrm>
            <a:off x="4651851" y="4698736"/>
            <a:ext cx="7540149" cy="1492239"/>
          </a:xfrm>
          <a:prstGeom prst="rect">
            <a:avLst/>
          </a:prstGeom>
        </p:spPr>
      </p:pic>
      <p:sp>
        <p:nvSpPr>
          <p:cNvPr id="69" name="正方形/長方形 68">
            <a:extLst>
              <a:ext uri="{FF2B5EF4-FFF2-40B4-BE49-F238E27FC236}">
                <a16:creationId xmlns:a16="http://schemas.microsoft.com/office/drawing/2014/main" id="{7B00853A-355B-AFAD-BCFC-310F3C8EE432}"/>
              </a:ext>
            </a:extLst>
          </p:cNvPr>
          <p:cNvSpPr/>
          <p:nvPr/>
        </p:nvSpPr>
        <p:spPr>
          <a:xfrm>
            <a:off x="73891" y="4793673"/>
            <a:ext cx="4239491" cy="1025236"/>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5517841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f8e20e6-048a-4bad-a26b-318dd1cd4d47}" enabled="1" method="Privileged" siteId="{66c65d8a-9158-4521-a2d8-664963db48e4}" contentBits="0" removed="0"/>
</clbl:labelList>
</file>

<file path=docProps/app.xml><?xml version="1.0" encoding="utf-8"?>
<Properties xmlns="http://schemas.openxmlformats.org/officeDocument/2006/extended-properties" xmlns:vt="http://schemas.openxmlformats.org/officeDocument/2006/docPropsVTypes">
  <TotalTime>594</TotalTime>
  <Words>687</Words>
  <PresentationFormat>ワイド画面</PresentationFormat>
  <Paragraphs>187</Paragraphs>
  <Slides>14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14</vt:i4>
      </vt:variant>
    </vt:vector>
  </HeadingPairs>
  <TitlesOfParts>
    <vt:vector size="18" baseType="lpstr">
      <vt:lpstr>游ゴシック</vt:lpstr>
      <vt:lpstr>游ゴシック Light</vt:lpstr>
      <vt:lpstr>Arial</vt:lpstr>
      <vt:lpstr>Office テーマ</vt:lpstr>
      <vt:lpstr>VXLAN環境の構築</vt:lpstr>
      <vt:lpstr>背景</vt:lpstr>
      <vt:lpstr>VXLANの概要</vt:lpstr>
      <vt:lpstr>Step1 仮想サーバー間のVXLAN通信</vt:lpstr>
      <vt:lpstr>Step2　スイッチを使ったVXLAN概要</vt:lpstr>
      <vt:lpstr>Step3　スイッチを使ったVXLAN設定詳細</vt:lpstr>
      <vt:lpstr>QinQの検証</vt:lpstr>
      <vt:lpstr>QinQの概要</vt:lpstr>
      <vt:lpstr>QinQの概要（フレームフォーマット）</vt:lpstr>
      <vt:lpstr>Step1　スイッチを使った基本環境構築</vt:lpstr>
      <vt:lpstr>Step2　スイッチを使ったQinQ環境構築</vt:lpstr>
      <vt:lpstr>Step3　スイッチを使ったQinQ環境構築</vt:lpstr>
      <vt:lpstr>Step4　スイッチを使ったQinQ環境構築</vt:lpstr>
      <vt:lpstr>QinQパケットの確認</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erms:created xsi:type="dcterms:W3CDTF">2026-07-21T05:12:29Z</dcterms:created>
  <dcterms:modified xsi:type="dcterms:W3CDTF">2026-07-22T05:20:39Z</dcterms:modified>
</cp:coreProperties>
</file>